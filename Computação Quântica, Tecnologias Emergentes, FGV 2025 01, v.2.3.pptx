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4362" r:id="rId1"/>
  </p:sldMasterIdLst>
  <p:notesMasterIdLst>
    <p:notesMasterId r:id="rId52"/>
  </p:notesMasterIdLst>
  <p:handoutMasterIdLst>
    <p:handoutMasterId r:id="rId53"/>
  </p:handoutMasterIdLst>
  <p:sldIdLst>
    <p:sldId id="2455" r:id="rId2"/>
    <p:sldId id="2520" r:id="rId3"/>
    <p:sldId id="2477" r:id="rId4"/>
    <p:sldId id="2507" r:id="rId5"/>
    <p:sldId id="2508" r:id="rId6"/>
    <p:sldId id="2509" r:id="rId7"/>
    <p:sldId id="2511" r:id="rId8"/>
    <p:sldId id="2515" r:id="rId9"/>
    <p:sldId id="2516" r:id="rId10"/>
    <p:sldId id="2517" r:id="rId11"/>
    <p:sldId id="2518" r:id="rId12"/>
    <p:sldId id="2510" r:id="rId13"/>
    <p:sldId id="2519" r:id="rId14"/>
    <p:sldId id="2456" r:id="rId15"/>
    <p:sldId id="2457" r:id="rId16"/>
    <p:sldId id="2458" r:id="rId17"/>
    <p:sldId id="2459" r:id="rId18"/>
    <p:sldId id="2460" r:id="rId19"/>
    <p:sldId id="2478" r:id="rId20"/>
    <p:sldId id="2479" r:id="rId21"/>
    <p:sldId id="2481" r:id="rId22"/>
    <p:sldId id="2482" r:id="rId23"/>
    <p:sldId id="2531" r:id="rId24"/>
    <p:sldId id="2532" r:id="rId25"/>
    <p:sldId id="2484" r:id="rId26"/>
    <p:sldId id="2504" r:id="rId27"/>
    <p:sldId id="2485" r:id="rId28"/>
    <p:sldId id="2489" r:id="rId29"/>
    <p:sldId id="2536" r:id="rId30"/>
    <p:sldId id="2537" r:id="rId31"/>
    <p:sldId id="2538" r:id="rId32"/>
    <p:sldId id="2491" r:id="rId33"/>
    <p:sldId id="2542" r:id="rId34"/>
    <p:sldId id="2543" r:id="rId35"/>
    <p:sldId id="2544" r:id="rId36"/>
    <p:sldId id="2545" r:id="rId37"/>
    <p:sldId id="2546" r:id="rId38"/>
    <p:sldId id="2540" r:id="rId39"/>
    <p:sldId id="2547" r:id="rId40"/>
    <p:sldId id="2499" r:id="rId41"/>
    <p:sldId id="2521" r:id="rId42"/>
    <p:sldId id="2505" r:id="rId43"/>
    <p:sldId id="2548" r:id="rId44"/>
    <p:sldId id="2525" r:id="rId45"/>
    <p:sldId id="2506" r:id="rId46"/>
    <p:sldId id="2549" r:id="rId47"/>
    <p:sldId id="2550" r:id="rId48"/>
    <p:sldId id="2527" r:id="rId49"/>
    <p:sldId id="2533" r:id="rId50"/>
    <p:sldId id="2534" r:id="rId51"/>
  </p:sldIdLst>
  <p:sldSz cx="12192000" cy="6858000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D9D9D9"/>
    <a:srgbClr val="CDDDF2"/>
    <a:srgbClr val="CCECFF"/>
    <a:srgbClr val="E8EFF9"/>
    <a:srgbClr val="000066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43" autoAdjust="0"/>
  </p:normalViewPr>
  <p:slideViewPr>
    <p:cSldViewPr>
      <p:cViewPr>
        <p:scale>
          <a:sx n="80" d="100"/>
          <a:sy n="80" d="100"/>
        </p:scale>
        <p:origin x="782" y="19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90584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40" y="48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nuvem2\Meu%20Drive\Colab%20Notebooks\1.rodrigo,%20quantum\2.2.Grover%20v.2.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nuvem2\Meu%20Drive\Colab%20Notebooks\1.rodrigo,%20quantum\2.2.Grover%20v.2.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nuvem2\Meu%20Drive\Colab%20Notebooks\1.rodrigo,%20quantum\2.2.Grover%20v.2.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nuvem2\Meu%20Drive\Colab%20Notebooks\1.rodrigo,%20quantum\2.2.Grover%20v.2.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nuvem2\Meu%20Drive\Colab%20Notebooks\1.rodrigo,%20quantum\2.2.Grover%20v.2.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F:\nuvem2\Meu%20Drive\Colab%20Notebooks\1.rodrigo,%20quantum\2.2.Grover%20v.2.2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01250994091099E-2"/>
          <c:y val="0"/>
          <c:w val="0.929967016946465"/>
          <c:h val="0.9103646653543310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c:spPr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33</c:v>
                </c:pt>
                <c:pt idx="7">
                  <c:v>40</c:v>
                </c:pt>
                <c:pt idx="8">
                  <c:v>50</c:v>
                </c:pt>
                <c:pt idx="9">
                  <c:v>67</c:v>
                </c:pt>
                <c:pt idx="10">
                  <c:v>90</c:v>
                </c:pt>
                <c:pt idx="11">
                  <c:v>120</c:v>
                </c:pt>
                <c:pt idx="1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1-4168-9E2A-DEC8D8D94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D4F1-4168-9E2A-DEC8D8D94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51840"/>
        <c:axId val="171385984"/>
      </c:areaChart>
      <c:catAx>
        <c:axId val="17205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171385984"/>
        <c:crosses val="autoZero"/>
        <c:auto val="1"/>
        <c:lblAlgn val="ctr"/>
        <c:lblOffset val="100"/>
        <c:noMultiLvlLbl val="0"/>
      </c:catAx>
      <c:valAx>
        <c:axId val="171385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205184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>
        <a:defRPr sz="1796"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01250994091099E-2"/>
          <c:y val="0"/>
          <c:w val="0.929967016946465"/>
          <c:h val="0.9103646653543310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c:spPr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33</c:v>
                </c:pt>
                <c:pt idx="7">
                  <c:v>40</c:v>
                </c:pt>
                <c:pt idx="8">
                  <c:v>50</c:v>
                </c:pt>
                <c:pt idx="9">
                  <c:v>67</c:v>
                </c:pt>
                <c:pt idx="10">
                  <c:v>90</c:v>
                </c:pt>
                <c:pt idx="11">
                  <c:v>120</c:v>
                </c:pt>
                <c:pt idx="1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1-4168-9E2A-DEC8D8D94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D4F1-4168-9E2A-DEC8D8D94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51840"/>
        <c:axId val="171385984"/>
      </c:areaChart>
      <c:catAx>
        <c:axId val="17205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171385984"/>
        <c:crosses val="autoZero"/>
        <c:auto val="1"/>
        <c:lblAlgn val="ctr"/>
        <c:lblOffset val="100"/>
        <c:noMultiLvlLbl val="0"/>
      </c:catAx>
      <c:valAx>
        <c:axId val="171385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205184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>
        <a:defRPr sz="1796"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01250994091099E-2"/>
          <c:y val="0"/>
          <c:w val="0.929967016946465"/>
          <c:h val="0.9103646653543310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c:spPr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33</c:v>
                </c:pt>
                <c:pt idx="7">
                  <c:v>40</c:v>
                </c:pt>
                <c:pt idx="8">
                  <c:v>50</c:v>
                </c:pt>
                <c:pt idx="9">
                  <c:v>67</c:v>
                </c:pt>
                <c:pt idx="10">
                  <c:v>90</c:v>
                </c:pt>
                <c:pt idx="11">
                  <c:v>120</c:v>
                </c:pt>
                <c:pt idx="1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1-4168-9E2A-DEC8D8D94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D4F1-4168-9E2A-DEC8D8D94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51840"/>
        <c:axId val="171385984"/>
      </c:areaChart>
      <c:catAx>
        <c:axId val="17205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171385984"/>
        <c:crosses val="autoZero"/>
        <c:auto val="1"/>
        <c:lblAlgn val="ctr"/>
        <c:lblOffset val="100"/>
        <c:noMultiLvlLbl val="0"/>
      </c:catAx>
      <c:valAx>
        <c:axId val="171385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205184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>
        <a:defRPr sz="1796"/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01250994091099E-2"/>
          <c:y val="0"/>
          <c:w val="0.929967016946465"/>
          <c:h val="0.9103646653543310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tint val="66000"/>
                    <a:satMod val="160000"/>
                  </a:schemeClr>
                </a:gs>
                <a:gs pos="50000">
                  <a:schemeClr val="accent2">
                    <a:tint val="44500"/>
                    <a:satMod val="160000"/>
                  </a:schemeClr>
                </a:gs>
                <a:gs pos="100000">
                  <a:schemeClr val="accent2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c:spPr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7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33</c:v>
                </c:pt>
                <c:pt idx="7">
                  <c:v>40</c:v>
                </c:pt>
                <c:pt idx="8">
                  <c:v>50</c:v>
                </c:pt>
                <c:pt idx="9">
                  <c:v>67</c:v>
                </c:pt>
                <c:pt idx="10">
                  <c:v>90</c:v>
                </c:pt>
                <c:pt idx="11">
                  <c:v>120</c:v>
                </c:pt>
                <c:pt idx="12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1-4168-9E2A-DEC8D8D949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cat>
            <c:numRef>
              <c:f>Sheet1!$A$2:$A$14</c:f>
              <c:numCache>
                <c:formatCode>General</c:formatCode>
                <c:ptCount val="13"/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D4F1-4168-9E2A-DEC8D8D949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051840"/>
        <c:axId val="171385984"/>
      </c:areaChart>
      <c:catAx>
        <c:axId val="1720518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171385984"/>
        <c:crosses val="autoZero"/>
        <c:auto val="1"/>
        <c:lblAlgn val="ctr"/>
        <c:lblOffset val="100"/>
        <c:noMultiLvlLbl val="0"/>
      </c:catAx>
      <c:valAx>
        <c:axId val="171385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205184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zero"/>
    <c:showDLblsOverMax val="0"/>
  </c:chart>
  <c:txPr>
    <a:bodyPr/>
    <a:lstStyle/>
    <a:p>
      <a:pPr>
        <a:defRPr sz="1796"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800" b="1"/>
              <a:t>Amplitudes Iniciais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'E1'!$F$16:$M$16</c:f>
              <c:strCache>
                <c:ptCount val="8"/>
                <c:pt idx="0">
                  <c:v>0.0.0</c:v>
                </c:pt>
                <c:pt idx="1">
                  <c:v>0.0.1</c:v>
                </c:pt>
                <c:pt idx="2">
                  <c:v>0.1.0</c:v>
                </c:pt>
                <c:pt idx="3">
                  <c:v>0.1.1</c:v>
                </c:pt>
                <c:pt idx="4">
                  <c:v>1.0.0</c:v>
                </c:pt>
                <c:pt idx="5">
                  <c:v>1.0.1</c:v>
                </c:pt>
                <c:pt idx="6">
                  <c:v>1.1.0</c:v>
                </c:pt>
                <c:pt idx="7">
                  <c:v>1.1.1</c:v>
                </c:pt>
              </c:strCache>
            </c:strRef>
          </c:cat>
          <c:val>
            <c:numRef>
              <c:f>'E1'!$F$17:$M$17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90-4E4D-91F9-F0F23846E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830415"/>
        <c:axId val="543821263"/>
      </c:barChart>
      <c:catAx>
        <c:axId val="54383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21263"/>
        <c:crosses val="autoZero"/>
        <c:auto val="1"/>
        <c:lblAlgn val="ctr"/>
        <c:lblOffset val="100"/>
        <c:noMultiLvlLbl val="0"/>
      </c:catAx>
      <c:valAx>
        <c:axId val="543821263"/>
        <c:scaling>
          <c:orientation val="minMax"/>
          <c:max val="3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800" b="1"/>
              <a:t>Amplitudes após 1a Consulta + Inversão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'E1'!$F$16:$M$16</c:f>
              <c:strCache>
                <c:ptCount val="8"/>
                <c:pt idx="0">
                  <c:v>0.0.0</c:v>
                </c:pt>
                <c:pt idx="1">
                  <c:v>0.0.1</c:v>
                </c:pt>
                <c:pt idx="2">
                  <c:v>0.1.0</c:v>
                </c:pt>
                <c:pt idx="3">
                  <c:v>0.1.1</c:v>
                </c:pt>
                <c:pt idx="4">
                  <c:v>1.0.0</c:v>
                </c:pt>
                <c:pt idx="5">
                  <c:v>1.0.1</c:v>
                </c:pt>
                <c:pt idx="6">
                  <c:v>1.1.0</c:v>
                </c:pt>
                <c:pt idx="7">
                  <c:v>1.1.1</c:v>
                </c:pt>
              </c:strCache>
            </c:strRef>
          </c:cat>
          <c:val>
            <c:numRef>
              <c:f>'E1'!$F$28:$M$28</c:f>
              <c:numCache>
                <c:formatCode>General</c:formatCode>
                <c:ptCount val="8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2.5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D7-4CF7-AB4F-A012B79C1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830415"/>
        <c:axId val="543821263"/>
      </c:barChart>
      <c:catAx>
        <c:axId val="54383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21263"/>
        <c:crosses val="autoZero"/>
        <c:auto val="1"/>
        <c:lblAlgn val="ctr"/>
        <c:lblOffset val="100"/>
        <c:noMultiLvlLbl val="0"/>
      </c:catAx>
      <c:valAx>
        <c:axId val="543821263"/>
        <c:scaling>
          <c:orientation val="minMax"/>
          <c:min val="-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800" b="1"/>
              <a:t>Amplitudes após 2a Consulta + Inversão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'E1'!$F$16:$M$16</c:f>
              <c:strCache>
                <c:ptCount val="8"/>
                <c:pt idx="0">
                  <c:v>0.0.0</c:v>
                </c:pt>
                <c:pt idx="1">
                  <c:v>0.0.1</c:v>
                </c:pt>
                <c:pt idx="2">
                  <c:v>0.1.0</c:v>
                </c:pt>
                <c:pt idx="3">
                  <c:v>0.1.1</c:v>
                </c:pt>
                <c:pt idx="4">
                  <c:v>1.0.0</c:v>
                </c:pt>
                <c:pt idx="5">
                  <c:v>1.0.1</c:v>
                </c:pt>
                <c:pt idx="6">
                  <c:v>1.1.0</c:v>
                </c:pt>
                <c:pt idx="7">
                  <c:v>1.1.1</c:v>
                </c:pt>
              </c:strCache>
            </c:strRef>
          </c:cat>
          <c:val>
            <c:numRef>
              <c:f>'E1'!$F$39:$M$39</c:f>
              <c:numCache>
                <c:formatCode>General</c:formatCode>
                <c:ptCount val="8"/>
                <c:pt idx="0">
                  <c:v>-0.25</c:v>
                </c:pt>
                <c:pt idx="1">
                  <c:v>-0.25</c:v>
                </c:pt>
                <c:pt idx="2">
                  <c:v>-0.25</c:v>
                </c:pt>
                <c:pt idx="3">
                  <c:v>-0.25</c:v>
                </c:pt>
                <c:pt idx="4">
                  <c:v>2.75</c:v>
                </c:pt>
                <c:pt idx="5">
                  <c:v>-0.25</c:v>
                </c:pt>
                <c:pt idx="6">
                  <c:v>-0.25</c:v>
                </c:pt>
                <c:pt idx="7">
                  <c:v>-0.25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DF-432A-A57A-EC6C20C744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830415"/>
        <c:axId val="543821263"/>
      </c:barChart>
      <c:catAx>
        <c:axId val="54383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21263"/>
        <c:crosses val="autoZero"/>
        <c:auto val="1"/>
        <c:lblAlgn val="ctr"/>
        <c:lblOffset val="100"/>
        <c:noMultiLvlLbl val="0"/>
      </c:catAx>
      <c:valAx>
        <c:axId val="543821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800" b="1"/>
              <a:t>Probabilidades Iniciais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'E1'!$F$16:$M$16</c:f>
              <c:strCache>
                <c:ptCount val="8"/>
                <c:pt idx="0">
                  <c:v>0.0.0</c:v>
                </c:pt>
                <c:pt idx="1">
                  <c:v>0.0.1</c:v>
                </c:pt>
                <c:pt idx="2">
                  <c:v>0.1.0</c:v>
                </c:pt>
                <c:pt idx="3">
                  <c:v>0.1.1</c:v>
                </c:pt>
                <c:pt idx="4">
                  <c:v>1.0.0</c:v>
                </c:pt>
                <c:pt idx="5">
                  <c:v>1.0.1</c:v>
                </c:pt>
                <c:pt idx="6">
                  <c:v>1.1.0</c:v>
                </c:pt>
                <c:pt idx="7">
                  <c:v>1.1.1</c:v>
                </c:pt>
              </c:strCache>
            </c:strRef>
          </c:cat>
          <c:val>
            <c:numRef>
              <c:f>'E1'!$F$18:$M$18</c:f>
              <c:numCache>
                <c:formatCode>0%</c:formatCode>
                <c:ptCount val="8"/>
                <c:pt idx="0">
                  <c:v>0.125</c:v>
                </c:pt>
                <c:pt idx="1">
                  <c:v>0.125</c:v>
                </c:pt>
                <c:pt idx="2">
                  <c:v>0.125</c:v>
                </c:pt>
                <c:pt idx="3">
                  <c:v>0.125</c:v>
                </c:pt>
                <c:pt idx="4">
                  <c:v>0.125</c:v>
                </c:pt>
                <c:pt idx="5">
                  <c:v>0.125</c:v>
                </c:pt>
                <c:pt idx="6">
                  <c:v>0.125</c:v>
                </c:pt>
                <c:pt idx="7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0-44BC-8F57-B577FA6ED9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830415"/>
        <c:axId val="543821263"/>
      </c:barChart>
      <c:catAx>
        <c:axId val="54383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21263"/>
        <c:crosses val="autoZero"/>
        <c:auto val="1"/>
        <c:lblAlgn val="ctr"/>
        <c:lblOffset val="100"/>
        <c:noMultiLvlLbl val="0"/>
      </c:catAx>
      <c:valAx>
        <c:axId val="54382126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800" b="1"/>
              <a:t>Probabilidades após 1a Consulta + Inversão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'E1'!$F$16:$M$16</c:f>
              <c:strCache>
                <c:ptCount val="8"/>
                <c:pt idx="0">
                  <c:v>0.0.0</c:v>
                </c:pt>
                <c:pt idx="1">
                  <c:v>0.0.1</c:v>
                </c:pt>
                <c:pt idx="2">
                  <c:v>0.1.0</c:v>
                </c:pt>
                <c:pt idx="3">
                  <c:v>0.1.1</c:v>
                </c:pt>
                <c:pt idx="4">
                  <c:v>1.0.0</c:v>
                </c:pt>
                <c:pt idx="5">
                  <c:v>1.0.1</c:v>
                </c:pt>
                <c:pt idx="6">
                  <c:v>1.1.0</c:v>
                </c:pt>
                <c:pt idx="7">
                  <c:v>1.1.1</c:v>
                </c:pt>
              </c:strCache>
            </c:strRef>
          </c:cat>
          <c:val>
            <c:numRef>
              <c:f>'E1'!$F$29:$M$29</c:f>
              <c:numCache>
                <c:formatCode>0%</c:formatCode>
                <c:ptCount val="8"/>
                <c:pt idx="0">
                  <c:v>3.125E-2</c:v>
                </c:pt>
                <c:pt idx="1">
                  <c:v>3.125E-2</c:v>
                </c:pt>
                <c:pt idx="2">
                  <c:v>3.125E-2</c:v>
                </c:pt>
                <c:pt idx="3">
                  <c:v>3.125E-2</c:v>
                </c:pt>
                <c:pt idx="4">
                  <c:v>0.78125</c:v>
                </c:pt>
                <c:pt idx="5">
                  <c:v>3.125E-2</c:v>
                </c:pt>
                <c:pt idx="6">
                  <c:v>3.125E-2</c:v>
                </c:pt>
                <c:pt idx="7">
                  <c:v>3.125E-2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33-4FEF-8041-76AA8026A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830415"/>
        <c:axId val="543821263"/>
      </c:barChart>
      <c:catAx>
        <c:axId val="54383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21263"/>
        <c:crosses val="autoZero"/>
        <c:auto val="1"/>
        <c:lblAlgn val="ctr"/>
        <c:lblOffset val="100"/>
        <c:noMultiLvlLbl val="0"/>
      </c:catAx>
      <c:valAx>
        <c:axId val="54382126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800" b="1"/>
              <a:t>Probabilidades após 2a Consulta + Inversão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'E1'!$F$16:$M$16</c:f>
              <c:strCache>
                <c:ptCount val="8"/>
                <c:pt idx="0">
                  <c:v>0.0.0</c:v>
                </c:pt>
                <c:pt idx="1">
                  <c:v>0.0.1</c:v>
                </c:pt>
                <c:pt idx="2">
                  <c:v>0.1.0</c:v>
                </c:pt>
                <c:pt idx="3">
                  <c:v>0.1.1</c:v>
                </c:pt>
                <c:pt idx="4">
                  <c:v>1.0.0</c:v>
                </c:pt>
                <c:pt idx="5">
                  <c:v>1.0.1</c:v>
                </c:pt>
                <c:pt idx="6">
                  <c:v>1.1.0</c:v>
                </c:pt>
                <c:pt idx="7">
                  <c:v>1.1.1</c:v>
                </c:pt>
              </c:strCache>
            </c:strRef>
          </c:cat>
          <c:val>
            <c:numRef>
              <c:f>'E1'!$F$40:$M$40</c:f>
              <c:numCache>
                <c:formatCode>0%</c:formatCode>
                <c:ptCount val="8"/>
                <c:pt idx="0">
                  <c:v>7.8125E-3</c:v>
                </c:pt>
                <c:pt idx="1">
                  <c:v>7.8125E-3</c:v>
                </c:pt>
                <c:pt idx="2">
                  <c:v>7.8125E-3</c:v>
                </c:pt>
                <c:pt idx="3">
                  <c:v>7.8125E-3</c:v>
                </c:pt>
                <c:pt idx="4">
                  <c:v>0.9453125</c:v>
                </c:pt>
                <c:pt idx="5">
                  <c:v>7.8125E-3</c:v>
                </c:pt>
                <c:pt idx="6">
                  <c:v>7.8125E-3</c:v>
                </c:pt>
                <c:pt idx="7">
                  <c:v>7.8125E-3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F-4561-9BC0-FBA701794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830415"/>
        <c:axId val="543821263"/>
      </c:barChart>
      <c:catAx>
        <c:axId val="543830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21263"/>
        <c:crosses val="autoZero"/>
        <c:auto val="1"/>
        <c:lblAlgn val="ctr"/>
        <c:lblOffset val="100"/>
        <c:noMultiLvlLbl val="0"/>
      </c:catAx>
      <c:valAx>
        <c:axId val="54382126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438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3916CC5-986B-4CB6-BFF2-C58EADCD0AE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23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6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9538" y="741363"/>
            <a:ext cx="657860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578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Prof.Gustavo</a:t>
            </a:r>
            <a:r>
              <a:rPr lang="en-US" baseline="0" dirty="0">
                <a:solidFill>
                  <a:schemeClr val="bg1"/>
                </a:solidFill>
              </a:rPr>
              <a:t> </a:t>
            </a:r>
            <a:r>
              <a:rPr lang="en-US" baseline="0" dirty="0" err="1">
                <a:solidFill>
                  <a:schemeClr val="bg1"/>
                </a:solidFill>
              </a:rPr>
              <a:t>Corrêa</a:t>
            </a:r>
            <a:r>
              <a:rPr lang="en-US" baseline="0" dirty="0">
                <a:solidFill>
                  <a:schemeClr val="bg1"/>
                </a:solidFill>
              </a:rPr>
              <a:t> Mirapalheta , gustavo.mirapalheta@fgv.br , +55 11 9 9204 1201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4343401"/>
            <a:ext cx="10363200" cy="688975"/>
          </a:xfrm>
        </p:spPr>
        <p:txBody>
          <a:bodyPr anchor="t"/>
          <a:lstStyle>
            <a:lvl1pPr algn="ctr">
              <a:defRPr sz="3600" b="1" baseline="0">
                <a:solidFill>
                  <a:srgbClr val="003366"/>
                </a:solidFill>
              </a:defRPr>
            </a:lvl1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r>
              <a:rPr lang="en-US" dirty="0"/>
              <a:t> do </a:t>
            </a:r>
            <a:r>
              <a:rPr lang="en-US" dirty="0" err="1"/>
              <a:t>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5251287"/>
            <a:ext cx="9448800" cy="685800"/>
          </a:xfrm>
        </p:spPr>
        <p:txBody>
          <a:bodyPr/>
          <a:lstStyle>
            <a:lvl1pPr marL="0" indent="0" algn="ctr">
              <a:buNone/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texto</a:t>
            </a:r>
            <a:r>
              <a:rPr lang="en-US" dirty="0"/>
              <a:t> do </a:t>
            </a:r>
            <a:r>
              <a:rPr lang="en-US" dirty="0" err="1"/>
              <a:t>subtítulo</a:t>
            </a:r>
            <a:endParaRPr lang="en-US" dirty="0"/>
          </a:p>
        </p:txBody>
      </p:sp>
      <p:pic>
        <p:nvPicPr>
          <p:cNvPr id="12290" name="Picture 2" descr="http://www.ivizsecurity.com/blog/wp-content/uploads/2013/11/Storm-in-Security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94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_e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tângulo 3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_texto_e_comandos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just">
              <a:defRPr/>
            </a:lvl1pPr>
            <a:lvl2pPr algn="just"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tângulo 3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2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" name="Retângulo 3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9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_duas_colunas_sem_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4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_duas_colunas_comandos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3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à_esquerda_e_figura_à_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197600" y="990600"/>
            <a:ext cx="5486400" cy="4953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Retângulo 4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4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_e_texto_3/4_figura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7721600" y="914400"/>
            <a:ext cx="3962400" cy="4953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06400" y="914401"/>
            <a:ext cx="7112000" cy="49530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a_à_esquerda_e_texto_à_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0" y="990601"/>
            <a:ext cx="5588000" cy="4953001"/>
          </a:xfrm>
        </p:spPr>
        <p:txBody>
          <a:bodyPr/>
          <a:lstStyle>
            <a:lvl1pPr>
              <a:defRPr sz="2400" baseline="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06400" y="990600"/>
            <a:ext cx="5486400" cy="4953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200"/>
            <a:ext cx="11277600" cy="762000"/>
          </a:xfrm>
        </p:spPr>
        <p:txBody>
          <a:bodyPr/>
          <a:lstStyle>
            <a:lvl1pPr>
              <a:defRPr b="1"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5" name="Retângulo 4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9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_acima_figura_em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9906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406400" y="3352800"/>
            <a:ext cx="11277600" cy="2667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acima_tabela_em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9906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406400" y="3276600"/>
            <a:ext cx="11277600" cy="2667000"/>
          </a:xfrm>
        </p:spPr>
        <p:txBody>
          <a:bodyPr anchor="ctr">
            <a:normAutofit/>
          </a:bodyPr>
          <a:lstStyle>
            <a:lvl1pPr>
              <a:buNone/>
              <a:defRPr baseline="0"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tabela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71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baixo_figura_ac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37338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406400" y="990600"/>
            <a:ext cx="11277600" cy="2667000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figura</a:t>
            </a:r>
            <a:endParaRPr lang="en-US" noProof="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1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embaixo_tabela_aci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3733800"/>
            <a:ext cx="11277600" cy="2209800"/>
          </a:xfrm>
        </p:spPr>
        <p:txBody>
          <a:bodyPr/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406400" y="990600"/>
            <a:ext cx="11277600" cy="2667000"/>
          </a:xfrm>
        </p:spPr>
        <p:txBody>
          <a:bodyPr anchor="ctr">
            <a:normAutofit/>
          </a:bodyPr>
          <a:lstStyle>
            <a:lvl1pPr>
              <a:buNone/>
              <a:defRPr baseline="0"/>
            </a:lvl1pPr>
          </a:lstStyle>
          <a:p>
            <a:pPr lvl="0"/>
            <a:r>
              <a:rPr lang="en-US" noProof="0" dirty="0"/>
              <a:t>Clique no </a:t>
            </a:r>
            <a:r>
              <a:rPr lang="en-US" noProof="0" dirty="0" err="1"/>
              <a:t>ícone</a:t>
            </a:r>
            <a:r>
              <a:rPr lang="en-US" noProof="0" dirty="0"/>
              <a:t> para </a:t>
            </a:r>
            <a:r>
              <a:rPr lang="en-US" noProof="0" dirty="0" err="1"/>
              <a:t>adicionar</a:t>
            </a:r>
            <a:r>
              <a:rPr lang="en-US" noProof="0" dirty="0"/>
              <a:t> </a:t>
            </a:r>
            <a:r>
              <a:rPr lang="en-US" noProof="0" dirty="0" err="1"/>
              <a:t>uma</a:t>
            </a:r>
            <a:r>
              <a:rPr lang="en-US" noProof="0" dirty="0"/>
              <a:t> </a:t>
            </a:r>
            <a:r>
              <a:rPr lang="en-US" noProof="0" dirty="0" err="1"/>
              <a:t>tabela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54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_faixa_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5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em_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53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_Branco_Texto_Azul_Faixa_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-2"/>
            <a:ext cx="12192000" cy="106680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spaço Reservado para Conteúdo 6"/>
          <p:cNvSpPr>
            <a:spLocks noGrp="1"/>
          </p:cNvSpPr>
          <p:nvPr>
            <p:ph sz="quarter" idx="10"/>
          </p:nvPr>
        </p:nvSpPr>
        <p:spPr>
          <a:xfrm>
            <a:off x="431469" y="1340768"/>
            <a:ext cx="11329160" cy="5112568"/>
          </a:xfrm>
        </p:spPr>
        <p:txBody>
          <a:bodyPr/>
          <a:lstStyle>
            <a:lvl1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400">
                <a:solidFill>
                  <a:srgbClr val="003366"/>
                </a:solidFill>
                <a:latin typeface="Myriad Pro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52400"/>
            <a:ext cx="11277600" cy="76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56000"/>
            <a:ext cx="12192000" cy="4572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7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22694620"/>
      </p:ext>
    </p:extLst>
  </p:cSld>
  <p:clrMapOvr>
    <a:masterClrMapping/>
  </p:clrMapOvr>
  <p:transition>
    <p:comb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7992A4B-8EE2-070F-849C-00A48182FE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17310"/>
            <a:ext cx="7335520" cy="36988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C99EA0-2597-E942-9463-CA4BF3C02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4" y="0"/>
            <a:ext cx="11179175" cy="78009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="1" i="0">
                <a:solidFill>
                  <a:srgbClr val="1D2D4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791A05-05BE-A545-8ABF-76B3D3552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1304925"/>
            <a:ext cx="11179174" cy="571183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B0306030504020204" pitchFamily="34" charset="0"/>
                <a:ea typeface="Calibri" panose="020B0306030504020204" pitchFamily="34" charset="0"/>
                <a:cs typeface="Calibri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37C9F9-BB8A-EF49-8024-65CEDD10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17310"/>
            <a:ext cx="7335520" cy="365125"/>
          </a:xfrm>
        </p:spPr>
        <p:txBody>
          <a:bodyPr/>
          <a:lstStyle>
            <a:lvl1pPr algn="l">
              <a:defRPr sz="2000" b="1" i="0">
                <a:solidFill>
                  <a:schemeClr val="bg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defRPr>
            </a:lvl1pPr>
          </a:lstStyle>
          <a:p>
            <a:r>
              <a:rPr lang="pt-BR" dirty="0"/>
              <a:t>	Nome da Aula</a:t>
            </a:r>
          </a:p>
        </p:txBody>
      </p:sp>
    </p:spTree>
    <p:extLst>
      <p:ext uri="{BB962C8B-B14F-4D97-AF65-F5344CB8AC3E}">
        <p14:creationId xmlns:p14="http://schemas.microsoft.com/office/powerpoint/2010/main" val="59007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>
          <p15:clr>
            <a:srgbClr val="9FCC3B"/>
          </p15:clr>
        </p15:guide>
        <p15:guide id="2" orient="horz" pos="459">
          <p15:clr>
            <a:srgbClr val="5ACBF0"/>
          </p15:clr>
        </p15:guide>
        <p15:guide id="3" pos="302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76200"/>
            <a:ext cx="11277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914400"/>
            <a:ext cx="11277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estilos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nível</a:t>
            </a:r>
            <a:endParaRPr lang="en-US" dirty="0"/>
          </a:p>
          <a:p>
            <a:pPr lvl="2"/>
            <a:r>
              <a:rPr lang="en-US" dirty="0" err="1"/>
              <a:t>Terceiro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  <a:p>
            <a:pPr lvl="3"/>
            <a:r>
              <a:rPr lang="en-US" dirty="0"/>
              <a:t>Quarto </a:t>
            </a:r>
            <a:r>
              <a:rPr lang="en-US" dirty="0" err="1"/>
              <a:t>nível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nível</a:t>
            </a:r>
            <a:endParaRPr lang="en-US" dirty="0"/>
          </a:p>
        </p:txBody>
      </p:sp>
      <p:pic>
        <p:nvPicPr>
          <p:cNvPr id="10" name="Picture 9" descr="EMC logo white-lg.png"/>
          <p:cNvPicPr>
            <a:picLocks noChangeAspect="1"/>
          </p:cNvPicPr>
          <p:nvPr/>
        </p:nvPicPr>
        <p:blipFill>
          <a:blip r:embed="rId20" cstate="print"/>
          <a:srcRect l="10651" r="6284" b="30550"/>
          <a:stretch>
            <a:fillRect/>
          </a:stretch>
        </p:blipFill>
        <p:spPr>
          <a:xfrm>
            <a:off x="10464800" y="6210870"/>
            <a:ext cx="1238251" cy="29244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408" r:id="rId1"/>
    <p:sldLayoutId id="2147494364" r:id="rId2"/>
    <p:sldLayoutId id="2147494393" r:id="rId3"/>
    <p:sldLayoutId id="2147494370" r:id="rId4"/>
    <p:sldLayoutId id="2147494369" r:id="rId5"/>
    <p:sldLayoutId id="2147494410" r:id="rId6"/>
    <p:sldLayoutId id="2147494367" r:id="rId7"/>
    <p:sldLayoutId id="2147494391" r:id="rId8"/>
    <p:sldLayoutId id="2147494368" r:id="rId9"/>
    <p:sldLayoutId id="2147494373" r:id="rId10"/>
    <p:sldLayoutId id="2147494376" r:id="rId11"/>
    <p:sldLayoutId id="2147494375" r:id="rId12"/>
    <p:sldLayoutId id="2147494377" r:id="rId13"/>
    <p:sldLayoutId id="2147494371" r:id="rId14"/>
    <p:sldLayoutId id="2147494378" r:id="rId15"/>
    <p:sldLayoutId id="2147494403" r:id="rId16"/>
    <p:sldLayoutId id="2147494411" r:id="rId17"/>
    <p:sldLayoutId id="2147494412" r:id="rId18"/>
  </p:sldLayoutIdLst>
  <p:transition>
    <p:comb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2C95DD"/>
          </a:solidFill>
          <a:latin typeface="Calibri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B0F0"/>
          </a:solidFill>
          <a:latin typeface="Calibri" pitchFamily="34" charset="0"/>
          <a:cs typeface="Arial" charset="0"/>
        </a:defRPr>
      </a:lvl9pPr>
    </p:titleStyle>
    <p:bodyStyle>
      <a:lvl1pPr marL="231775" indent="-231775" algn="l" rtl="0" eaLnBrk="1" fontAlgn="base" hangingPunct="1">
        <a:spcBef>
          <a:spcPct val="20000"/>
        </a:spcBef>
        <a:spcAft>
          <a:spcPct val="0"/>
        </a:spcAft>
        <a:buClr>
          <a:srgbClr val="92D050"/>
        </a:buClr>
        <a:buSzPct val="120000"/>
        <a:buFont typeface="Arial" charset="0"/>
        <a:buChar char="•"/>
        <a:defRPr sz="2400" kern="1200" baseline="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1pPr>
      <a:lvl2pPr marL="682625" indent="-341313" algn="l" rtl="0" eaLnBrk="1" fontAlgn="base" hangingPunct="1">
        <a:spcBef>
          <a:spcPct val="20000"/>
        </a:spcBef>
        <a:spcAft>
          <a:spcPct val="0"/>
        </a:spcAft>
        <a:buClr>
          <a:srgbClr val="FFC425"/>
        </a:buClr>
        <a:buSzPct val="90000"/>
        <a:buFont typeface="Webdings" pitchFamily="18" charset="2"/>
        <a:buChar char="4"/>
        <a:defRPr sz="2200"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2pPr>
      <a:lvl3pPr marL="1143000" indent="-338138" algn="l" rtl="0" eaLnBrk="1" fontAlgn="base" hangingPunct="1">
        <a:spcBef>
          <a:spcPct val="20000"/>
        </a:spcBef>
        <a:spcAft>
          <a:spcPct val="0"/>
        </a:spcAft>
        <a:buClr>
          <a:srgbClr val="B5761B"/>
        </a:buClr>
        <a:buSzPct val="90000"/>
        <a:buFont typeface="Webdings" pitchFamily="18" charset="2"/>
        <a:buChar char="8"/>
        <a:defRPr sz="2000"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3pPr>
      <a:lvl4pPr marL="1487488" indent="-2317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4pPr>
      <a:lvl5pPr marL="1828800" indent="-231775" algn="l" rtl="0" eaLnBrk="1" fontAlgn="base" hangingPunct="1">
        <a:spcBef>
          <a:spcPct val="20000"/>
        </a:spcBef>
        <a:spcAft>
          <a:spcPct val="0"/>
        </a:spcAft>
        <a:buClr>
          <a:srgbClr val="7030A0"/>
        </a:buClr>
        <a:buSzPct val="110000"/>
        <a:buFont typeface="Arial" charset="0"/>
        <a:buChar char="•"/>
        <a:defRPr kern="1200">
          <a:solidFill>
            <a:schemeClr val="bg2">
              <a:lumMod val="75000"/>
            </a:schemeClr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3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4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6.emf"/><Relationship Id="rId10" Type="http://schemas.openxmlformats.org/officeDocument/2006/relationships/image" Target="../media/image40.e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medium.com/mit-6-s089-intro-to-quantum-computing" TargetMode="External"/><Relationship Id="rId3" Type="http://schemas.openxmlformats.org/officeDocument/2006/relationships/image" Target="../media/image57.png"/><Relationship Id="rId7" Type="http://schemas.openxmlformats.org/officeDocument/2006/relationships/hyperlink" Target="https://pennylane.ai/blog/2025/03/top-quantum-algorithms-papers-winter-2025/?utm_source=newsletter&amp;utm_medium=xanadu_email&amp;utm_campaign=pennylane_blog&amp;utm_content=top_quantum_algorithms_papers_winter_2025" TargetMode="External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Tecnologias Emergentes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Quantum </a:t>
            </a:r>
            <a:r>
              <a:rPr lang="pt-BR" b="1" dirty="0" err="1"/>
              <a:t>Machine</a:t>
            </a:r>
            <a:r>
              <a:rPr lang="pt-BR" b="1" dirty="0"/>
              <a:t> Learning</a:t>
            </a:r>
            <a:r>
              <a:rPr lang="pt-BR" dirty="0"/>
              <a:t>: Conceitos, Tendências, Negócios</a:t>
            </a:r>
          </a:p>
        </p:txBody>
      </p:sp>
    </p:spTree>
    <p:extLst>
      <p:ext uri="{BB962C8B-B14F-4D97-AF65-F5344CB8AC3E}">
        <p14:creationId xmlns:p14="http://schemas.microsoft.com/office/powerpoint/2010/main" val="199130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441CE3-FCD2-3640-854C-DE64A1F0775E}"/>
              </a:ext>
            </a:extLst>
          </p:cNvPr>
          <p:cNvSpPr txBox="1"/>
          <p:nvPr/>
        </p:nvSpPr>
        <p:spPr>
          <a:xfrm>
            <a:off x="0" y="6359759"/>
            <a:ext cx="952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sz="2400" b="1" dirty="0">
                <a:solidFill>
                  <a:schemeClr val="bg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98194F-428D-6243-BE8A-B307366EAD25}"/>
              </a:ext>
            </a:extLst>
          </p:cNvPr>
          <p:cNvSpPr txBox="1"/>
          <p:nvPr/>
        </p:nvSpPr>
        <p:spPr>
          <a:xfrm>
            <a:off x="491616" y="187135"/>
            <a:ext cx="8405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dirty="0">
                <a:solidFill>
                  <a:srgbClr val="1D2E4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  <a:endParaRPr lang="pt-BR" sz="3200" b="1" dirty="0">
              <a:solidFill>
                <a:srgbClr val="1D2E41"/>
              </a:solidFill>
              <a:latin typeface="Calibri" panose="020B0606030504020204" pitchFamily="34" charset="0"/>
              <a:ea typeface="Calibri" panose="020B0606030504020204" pitchFamily="34" charset="0"/>
              <a:cs typeface="Calibri" panose="020B0606030504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F75145-94AC-3ED6-1F28-391CC9935C4E}"/>
              </a:ext>
            </a:extLst>
          </p:cNvPr>
          <p:cNvSpPr txBox="1"/>
          <p:nvPr/>
        </p:nvSpPr>
        <p:spPr>
          <a:xfrm>
            <a:off x="7922458" y="2177137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Variedade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EBB185-E463-20BA-B674-FC1967DD4753}"/>
              </a:ext>
            </a:extLst>
          </p:cNvPr>
          <p:cNvSpPr txBox="1"/>
          <p:nvPr/>
        </p:nvSpPr>
        <p:spPr>
          <a:xfrm>
            <a:off x="3595334" y="2156673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pt-BR" b="1" dirty="0"/>
              <a:t>Velocidade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6F7D451-E2B6-3163-AA57-BCE6EC28E2AE}"/>
              </a:ext>
            </a:extLst>
          </p:cNvPr>
          <p:cNvCxnSpPr/>
          <p:nvPr/>
        </p:nvCxnSpPr>
        <p:spPr>
          <a:xfrm flipH="1" flipV="1">
            <a:off x="4605379" y="2789014"/>
            <a:ext cx="1791493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114ED8D-DDBE-6C2E-E56B-57BEE0085A39}"/>
              </a:ext>
            </a:extLst>
          </p:cNvPr>
          <p:cNvCxnSpPr/>
          <p:nvPr/>
        </p:nvCxnSpPr>
        <p:spPr>
          <a:xfrm>
            <a:off x="5482472" y="2313449"/>
            <a:ext cx="2210592" cy="13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9DA19A-27CD-449A-4601-797BCAE8DFFA}"/>
              </a:ext>
            </a:extLst>
          </p:cNvPr>
          <p:cNvCxnSpPr/>
          <p:nvPr/>
        </p:nvCxnSpPr>
        <p:spPr>
          <a:xfrm flipH="1">
            <a:off x="6701672" y="2865214"/>
            <a:ext cx="1789907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D95B83-4A4A-38F9-B347-55E21513849A}"/>
              </a:ext>
            </a:extLst>
          </p:cNvPr>
          <p:cNvSpPr txBox="1"/>
          <p:nvPr/>
        </p:nvSpPr>
        <p:spPr>
          <a:xfrm>
            <a:off x="5635664" y="4389214"/>
            <a:ext cx="18280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Volume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CD06A3B-E149-70C6-40C6-20C3DEF5B54F}"/>
              </a:ext>
            </a:extLst>
          </p:cNvPr>
          <p:cNvGrpSpPr/>
          <p:nvPr/>
        </p:nvGrpSpPr>
        <p:grpSpPr>
          <a:xfrm>
            <a:off x="2778464" y="3378409"/>
            <a:ext cx="2672671" cy="1846179"/>
            <a:chOff x="152400" y="3581400"/>
            <a:chExt cx="3466416" cy="2472154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598B2BBA-EBE8-53D9-AE5E-0831B7DF404C}"/>
                </a:ext>
              </a:extLst>
            </p:cNvPr>
            <p:cNvGrpSpPr/>
            <p:nvPr/>
          </p:nvGrpSpPr>
          <p:grpSpPr>
            <a:xfrm>
              <a:off x="152400" y="3581400"/>
              <a:ext cx="3466416" cy="2413118"/>
              <a:chOff x="152400" y="3581400"/>
              <a:chExt cx="3466416" cy="2413118"/>
            </a:xfrm>
          </p:grpSpPr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A74B815-706B-7FFE-F95F-F83B2C2846C1}"/>
                  </a:ext>
                </a:extLst>
              </p:cNvPr>
              <p:cNvGrpSpPr/>
              <p:nvPr/>
            </p:nvGrpSpPr>
            <p:grpSpPr>
              <a:xfrm>
                <a:off x="152400" y="3581400"/>
                <a:ext cx="3466416" cy="2413118"/>
                <a:chOff x="152400" y="3581400"/>
                <a:chExt cx="3466416" cy="2413118"/>
              </a:xfrm>
            </p:grpSpPr>
            <p:graphicFrame>
              <p:nvGraphicFramePr>
                <p:cNvPr id="20" name="Chart 81">
                  <a:extLst>
                    <a:ext uri="{FF2B5EF4-FFF2-40B4-BE49-F238E27FC236}">
                      <a16:creationId xmlns:a16="http://schemas.microsoft.com/office/drawing/2014/main" id="{BEAAC23E-FCE1-AC7B-B2D8-15F92C7029A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52400" y="3581400"/>
                <a:ext cx="3466416" cy="241311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FB37374F-E669-096D-5A16-57A744DE683D}"/>
                    </a:ext>
                  </a:extLst>
                </p:cNvPr>
                <p:cNvSpPr/>
                <p:nvPr/>
              </p:nvSpPr>
              <p:spPr>
                <a:xfrm>
                  <a:off x="2046507" y="4343400"/>
                  <a:ext cx="837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600" b="1" dirty="0">
                      <a:solidFill>
                        <a:srgbClr val="003366"/>
                      </a:solidFill>
                      <a:latin typeface="Calibri"/>
                      <a:ea typeface="ＭＳ Ｐゴシック" pitchFamily="34" charset="-128"/>
                      <a:cs typeface="Arial" panose="020B0604020202020204" pitchFamily="34" charset="0"/>
                    </a:rPr>
                    <a:t>Volume</a:t>
                  </a:r>
                  <a:endParaRPr lang="en-US" sz="1600" b="1" dirty="0">
                    <a:solidFill>
                      <a:srgbClr val="003366"/>
                    </a:solidFill>
                    <a:latin typeface="Calibri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9C89CC9-6BDE-5852-7209-EE047A33537A}"/>
                  </a:ext>
                </a:extLst>
              </p:cNvPr>
              <p:cNvSpPr/>
              <p:nvPr/>
            </p:nvSpPr>
            <p:spPr>
              <a:xfrm>
                <a:off x="606796" y="3775400"/>
                <a:ext cx="89248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solidFill>
                      <a:srgbClr val="003366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Big Data</a:t>
                </a:r>
                <a:endParaRPr lang="pt-BR" sz="1600" dirty="0"/>
              </a:p>
            </p:txBody>
          </p:sp>
        </p:grp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0520E8A-C169-360A-9AD4-EEA20A338883}"/>
                </a:ext>
              </a:extLst>
            </p:cNvPr>
            <p:cNvSpPr/>
            <p:nvPr/>
          </p:nvSpPr>
          <p:spPr>
            <a:xfrm>
              <a:off x="2149060" y="5715000"/>
              <a:ext cx="1119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Velocidade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0FB2C7E-267E-0327-455C-CB0F273731B3}"/>
              </a:ext>
            </a:extLst>
          </p:cNvPr>
          <p:cNvGrpSpPr/>
          <p:nvPr/>
        </p:nvGrpSpPr>
        <p:grpSpPr>
          <a:xfrm>
            <a:off x="4910588" y="156646"/>
            <a:ext cx="1984376" cy="1803173"/>
            <a:chOff x="6801481" y="369568"/>
            <a:chExt cx="1984376" cy="1803173"/>
          </a:xfrm>
        </p:grpSpPr>
        <p:pic>
          <p:nvPicPr>
            <p:cNvPr id="23" name="Picture 2" descr="Resultado de imagem para The Economist Technology Quarterly â the rise and plateau of transistor power.">
              <a:extLst>
                <a:ext uri="{FF2B5EF4-FFF2-40B4-BE49-F238E27FC236}">
                  <a16:creationId xmlns:a16="http://schemas.microsoft.com/office/drawing/2014/main" id="{CA86D011-A19C-1061-0A9D-1C2473766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1481" y="762000"/>
              <a:ext cx="1984376" cy="1410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92AD552-6269-8B56-0428-6FFEB6293B05}"/>
                </a:ext>
              </a:extLst>
            </p:cNvPr>
            <p:cNvSpPr/>
            <p:nvPr/>
          </p:nvSpPr>
          <p:spPr>
            <a:xfrm>
              <a:off x="7136101" y="369568"/>
              <a:ext cx="130446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Lei de Moore</a:t>
              </a:r>
              <a:endParaRPr lang="en-US" sz="1600" b="1" baseline="30000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13BDA8-4779-1DDC-394E-BB629F42206F}"/>
              </a:ext>
            </a:extLst>
          </p:cNvPr>
          <p:cNvSpPr txBox="1"/>
          <p:nvPr/>
        </p:nvSpPr>
        <p:spPr>
          <a:xfrm>
            <a:off x="8293107" y="3916142"/>
            <a:ext cx="17914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Inteligência Artificial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9C89CC9-6BDE-5852-7209-EE047A33537A}"/>
              </a:ext>
            </a:extLst>
          </p:cNvPr>
          <p:cNvSpPr/>
          <p:nvPr/>
        </p:nvSpPr>
        <p:spPr>
          <a:xfrm>
            <a:off x="5816725" y="5291446"/>
            <a:ext cx="24890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Aplicações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consumindo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cada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vez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mais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dados…</a:t>
            </a:r>
            <a:endParaRPr lang="pt-BR" sz="1600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9C89CC9-6BDE-5852-7209-EE047A33537A}"/>
              </a:ext>
            </a:extLst>
          </p:cNvPr>
          <p:cNvSpPr/>
          <p:nvPr/>
        </p:nvSpPr>
        <p:spPr>
          <a:xfrm>
            <a:off x="557209" y="906959"/>
            <a:ext cx="25716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tornarão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Lei de Moore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cada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vez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mais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“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cara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endParaRPr lang="pt-BR" sz="1600" dirty="0"/>
          </a:p>
        </p:txBody>
      </p:sp>
      <p:grpSp>
        <p:nvGrpSpPr>
          <p:cNvPr id="35" name="Agrupar 34"/>
          <p:cNvGrpSpPr/>
          <p:nvPr/>
        </p:nvGrpSpPr>
        <p:grpSpPr>
          <a:xfrm>
            <a:off x="415416" y="1828800"/>
            <a:ext cx="1105749" cy="924458"/>
            <a:chOff x="415416" y="1828800"/>
            <a:chExt cx="1105749" cy="924458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416" y="1828800"/>
              <a:ext cx="1105749" cy="621507"/>
            </a:xfrm>
            <a:prstGeom prst="rect">
              <a:avLst/>
            </a:prstGeom>
          </p:spPr>
        </p:pic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FB37374F-E669-096D-5A16-57A744DE683D}"/>
                </a:ext>
              </a:extLst>
            </p:cNvPr>
            <p:cNvSpPr/>
            <p:nvPr/>
          </p:nvSpPr>
          <p:spPr>
            <a:xfrm>
              <a:off x="452411" y="2414704"/>
              <a:ext cx="103175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Symbol" panose="05050102010706020507" pitchFamily="18" charset="2"/>
                  <a:ea typeface="ＭＳ Ｐゴシック" pitchFamily="34" charset="-128"/>
                  <a:cs typeface="Arial" panose="020B0604020202020204" pitchFamily="34" charset="0"/>
                </a:rPr>
                <a:t>m</a:t>
              </a: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Fotônica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36" name="Agrupar 35"/>
          <p:cNvGrpSpPr/>
          <p:nvPr/>
        </p:nvGrpSpPr>
        <p:grpSpPr>
          <a:xfrm>
            <a:off x="2094948" y="2125558"/>
            <a:ext cx="953237" cy="1002010"/>
            <a:chOff x="2094948" y="2125558"/>
            <a:chExt cx="953237" cy="1002010"/>
          </a:xfrm>
        </p:grpSpPr>
        <p:pic>
          <p:nvPicPr>
            <p:cNvPr id="32" name="Imagem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4948" y="2125558"/>
              <a:ext cx="953237" cy="635491"/>
            </a:xfrm>
            <a:prstGeom prst="rect">
              <a:avLst/>
            </a:prstGeom>
          </p:spPr>
        </p:pic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FB37374F-E669-096D-5A16-57A744DE683D}"/>
                </a:ext>
              </a:extLst>
            </p:cNvPr>
            <p:cNvSpPr/>
            <p:nvPr/>
          </p:nvSpPr>
          <p:spPr>
            <a:xfrm>
              <a:off x="2130883" y="2789014"/>
              <a:ext cx="87120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+mn-lt"/>
                  <a:ea typeface="ＭＳ Ｐゴシック" pitchFamily="34" charset="-128"/>
                  <a:cs typeface="Arial" panose="020B0604020202020204" pitchFamily="34" charset="0"/>
                </a:rPr>
                <a:t>Grafeno</a:t>
              </a:r>
              <a:endParaRPr lang="en-US" sz="1600" b="1" dirty="0">
                <a:solidFill>
                  <a:srgbClr val="003366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2" name="Agrupar 1"/>
          <p:cNvGrpSpPr/>
          <p:nvPr/>
        </p:nvGrpSpPr>
        <p:grpSpPr>
          <a:xfrm>
            <a:off x="527588" y="2874891"/>
            <a:ext cx="1557169" cy="1264612"/>
            <a:chOff x="458996" y="3369045"/>
            <a:chExt cx="1557169" cy="1264612"/>
          </a:xfrm>
        </p:grpSpPr>
        <p:pic>
          <p:nvPicPr>
            <p:cNvPr id="37" name="Imagem 3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939" y="3369045"/>
              <a:ext cx="1263315" cy="710614"/>
            </a:xfrm>
            <a:prstGeom prst="rect">
              <a:avLst/>
            </a:prstGeom>
          </p:spPr>
        </p:pic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59C89CC9-6BDE-5852-7209-EE047A33537A}"/>
                </a:ext>
              </a:extLst>
            </p:cNvPr>
            <p:cNvSpPr/>
            <p:nvPr/>
          </p:nvSpPr>
          <p:spPr>
            <a:xfrm>
              <a:off x="458996" y="4079659"/>
              <a:ext cx="155716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Uma </a:t>
              </a:r>
              <a:r>
                <a:rPr lang="en-US" sz="1500" b="1" dirty="0" err="1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alternativa</a:t>
              </a:r>
              <a:r>
                <a:rPr lang="en-US" sz="1500" b="1" dirty="0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“fora da </a:t>
              </a:r>
              <a:r>
                <a:rPr lang="en-US" sz="1500" b="1" dirty="0" err="1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caixa</a:t>
              </a:r>
              <a:r>
                <a:rPr lang="en-US" sz="1500" b="1" dirty="0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”</a:t>
              </a:r>
              <a:endParaRPr lang="pt-BR" sz="1500" dirty="0"/>
            </a:p>
          </p:txBody>
        </p:sp>
      </p:grpSp>
      <p:grpSp>
        <p:nvGrpSpPr>
          <p:cNvPr id="25" name="Agrupar 24"/>
          <p:cNvGrpSpPr/>
          <p:nvPr/>
        </p:nvGrpSpPr>
        <p:grpSpPr>
          <a:xfrm>
            <a:off x="8440114" y="4593214"/>
            <a:ext cx="1523774" cy="1263819"/>
            <a:chOff x="8440114" y="4593214"/>
            <a:chExt cx="1523774" cy="1263819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114" y="4593214"/>
              <a:ext cx="1523774" cy="905931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8678541" y="5549256"/>
              <a:ext cx="104691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err="1"/>
                <a:t>LLMs</a:t>
              </a:r>
              <a:endParaRPr lang="pt-BR" sz="1400" b="1" dirty="0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10131457" y="3928069"/>
            <a:ext cx="1631547" cy="1445509"/>
            <a:chOff x="10131457" y="3928069"/>
            <a:chExt cx="1631547" cy="1445509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5653" y="3928069"/>
              <a:ext cx="1383157" cy="922289"/>
            </a:xfrm>
            <a:prstGeom prst="rect">
              <a:avLst/>
            </a:prstGeom>
          </p:spPr>
        </p:pic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131457" y="4850358"/>
              <a:ext cx="163154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Reconhecimento de Imagens</a:t>
              </a:r>
            </a:p>
          </p:txBody>
        </p:sp>
      </p:grpSp>
      <p:grpSp>
        <p:nvGrpSpPr>
          <p:cNvPr id="27" name="Agrupar 26"/>
          <p:cNvGrpSpPr/>
          <p:nvPr/>
        </p:nvGrpSpPr>
        <p:grpSpPr>
          <a:xfrm>
            <a:off x="10137055" y="5471132"/>
            <a:ext cx="1620354" cy="1117954"/>
            <a:chOff x="10137055" y="5471132"/>
            <a:chExt cx="1620354" cy="1117954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055" y="5471132"/>
              <a:ext cx="1620354" cy="810177"/>
            </a:xfrm>
            <a:prstGeom prst="rect">
              <a:avLst/>
            </a:prstGeom>
          </p:spPr>
        </p:pic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441769" y="6281309"/>
              <a:ext cx="10109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Robótica</a:t>
              </a:r>
            </a:p>
          </p:txBody>
        </p:sp>
      </p:grpSp>
      <p:pic>
        <p:nvPicPr>
          <p:cNvPr id="31" name="Imagem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9406" y="260186"/>
            <a:ext cx="3407231" cy="798824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9406" y="1126861"/>
            <a:ext cx="3415397" cy="792763"/>
          </a:xfrm>
          <a:prstGeom prst="rect">
            <a:avLst/>
          </a:prstGeom>
        </p:spPr>
      </p:pic>
      <p:sp>
        <p:nvSpPr>
          <p:cNvPr id="43" name="Elipse 42"/>
          <p:cNvSpPr/>
          <p:nvPr/>
        </p:nvSpPr>
        <p:spPr>
          <a:xfrm>
            <a:off x="7670455" y="844961"/>
            <a:ext cx="4064345" cy="1288639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7875267" y="4291201"/>
            <a:ext cx="2566502" cy="1635834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/>
          <p:cNvCxnSpPr>
            <a:endCxn id="44" idx="0"/>
          </p:cNvCxnSpPr>
          <p:nvPr/>
        </p:nvCxnSpPr>
        <p:spPr>
          <a:xfrm flipH="1">
            <a:off x="9158518" y="2133600"/>
            <a:ext cx="544110" cy="215760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/>
          <p:cNvCxnSpPr>
            <a:stCxn id="44" idx="1"/>
            <a:endCxn id="53" idx="5"/>
          </p:cNvCxnSpPr>
          <p:nvPr/>
        </p:nvCxnSpPr>
        <p:spPr>
          <a:xfrm flipH="1" flipV="1">
            <a:off x="6845878" y="2041105"/>
            <a:ext cx="1405245" cy="248965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5405899" y="417197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48" name="Conector de Seta Reta 47"/>
          <p:cNvCxnSpPr>
            <a:stCxn id="49" idx="7"/>
            <a:endCxn id="53" idx="3"/>
          </p:cNvCxnSpPr>
          <p:nvPr/>
        </p:nvCxnSpPr>
        <p:spPr>
          <a:xfrm flipV="1">
            <a:off x="2037195" y="2041105"/>
            <a:ext cx="2924941" cy="81618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/>
          <p:cNvSpPr/>
          <p:nvPr/>
        </p:nvSpPr>
        <p:spPr>
          <a:xfrm>
            <a:off x="219738" y="2617723"/>
            <a:ext cx="2129283" cy="1635834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de Seta Reta 49"/>
          <p:cNvCxnSpPr>
            <a:stCxn id="44" idx="2"/>
            <a:endCxn id="49" idx="6"/>
          </p:cNvCxnSpPr>
          <p:nvPr/>
        </p:nvCxnSpPr>
        <p:spPr>
          <a:xfrm flipH="1" flipV="1">
            <a:off x="2349021" y="3435640"/>
            <a:ext cx="5526246" cy="167347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/>
          <p:cNvSpPr/>
          <p:nvPr/>
        </p:nvSpPr>
        <p:spPr>
          <a:xfrm>
            <a:off x="4572000" y="65283"/>
            <a:ext cx="2664014" cy="231482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527375"/>
      </p:ext>
    </p:extLst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28" grpId="0" animBg="1"/>
      <p:bldP spid="29" grpId="0"/>
      <p:bldP spid="30" grpId="0"/>
      <p:bldP spid="43" grpId="0" animBg="1"/>
      <p:bldP spid="44" grpId="0" animBg="1"/>
      <p:bldP spid="47" grpId="0"/>
      <p:bldP spid="47" grpId="1"/>
      <p:bldP spid="49" grpId="0" animBg="1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441CE3-FCD2-3640-854C-DE64A1F0775E}"/>
              </a:ext>
            </a:extLst>
          </p:cNvPr>
          <p:cNvSpPr txBox="1"/>
          <p:nvPr/>
        </p:nvSpPr>
        <p:spPr>
          <a:xfrm>
            <a:off x="0" y="6359759"/>
            <a:ext cx="952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sz="2400" b="1" dirty="0">
                <a:solidFill>
                  <a:schemeClr val="bg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98194F-428D-6243-BE8A-B307366EAD25}"/>
              </a:ext>
            </a:extLst>
          </p:cNvPr>
          <p:cNvSpPr txBox="1"/>
          <p:nvPr/>
        </p:nvSpPr>
        <p:spPr>
          <a:xfrm>
            <a:off x="491616" y="187135"/>
            <a:ext cx="8405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dirty="0">
                <a:solidFill>
                  <a:srgbClr val="1D2E4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  <a:endParaRPr lang="pt-BR" sz="3200" b="1" dirty="0">
              <a:solidFill>
                <a:srgbClr val="1D2E41"/>
              </a:solidFill>
              <a:latin typeface="Calibri" panose="020B0606030504020204" pitchFamily="34" charset="0"/>
              <a:ea typeface="Calibri" panose="020B0606030504020204" pitchFamily="34" charset="0"/>
              <a:cs typeface="Calibri" panose="020B0606030504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F75145-94AC-3ED6-1F28-391CC9935C4E}"/>
              </a:ext>
            </a:extLst>
          </p:cNvPr>
          <p:cNvSpPr txBox="1"/>
          <p:nvPr/>
        </p:nvSpPr>
        <p:spPr>
          <a:xfrm>
            <a:off x="7922458" y="2177137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Variedade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EBB185-E463-20BA-B674-FC1967DD4753}"/>
              </a:ext>
            </a:extLst>
          </p:cNvPr>
          <p:cNvSpPr txBox="1"/>
          <p:nvPr/>
        </p:nvSpPr>
        <p:spPr>
          <a:xfrm>
            <a:off x="3595334" y="2156673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pt-BR" b="1" dirty="0"/>
              <a:t>Velocidade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6F7D451-E2B6-3163-AA57-BCE6EC28E2AE}"/>
              </a:ext>
            </a:extLst>
          </p:cNvPr>
          <p:cNvCxnSpPr/>
          <p:nvPr/>
        </p:nvCxnSpPr>
        <p:spPr>
          <a:xfrm flipH="1" flipV="1">
            <a:off x="4605379" y="2789014"/>
            <a:ext cx="1791493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114ED8D-DDBE-6C2E-E56B-57BEE0085A39}"/>
              </a:ext>
            </a:extLst>
          </p:cNvPr>
          <p:cNvCxnSpPr/>
          <p:nvPr/>
        </p:nvCxnSpPr>
        <p:spPr>
          <a:xfrm>
            <a:off x="5482472" y="2313449"/>
            <a:ext cx="2210592" cy="13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9DA19A-27CD-449A-4601-797BCAE8DFFA}"/>
              </a:ext>
            </a:extLst>
          </p:cNvPr>
          <p:cNvCxnSpPr/>
          <p:nvPr/>
        </p:nvCxnSpPr>
        <p:spPr>
          <a:xfrm flipH="1">
            <a:off x="6701672" y="2865214"/>
            <a:ext cx="1789907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D95B83-4A4A-38F9-B347-55E21513849A}"/>
              </a:ext>
            </a:extLst>
          </p:cNvPr>
          <p:cNvSpPr txBox="1"/>
          <p:nvPr/>
        </p:nvSpPr>
        <p:spPr>
          <a:xfrm>
            <a:off x="5635664" y="4389214"/>
            <a:ext cx="18280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Volume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CD06A3B-E149-70C6-40C6-20C3DEF5B54F}"/>
              </a:ext>
            </a:extLst>
          </p:cNvPr>
          <p:cNvGrpSpPr/>
          <p:nvPr/>
        </p:nvGrpSpPr>
        <p:grpSpPr>
          <a:xfrm>
            <a:off x="2778464" y="3378409"/>
            <a:ext cx="2672671" cy="1846179"/>
            <a:chOff x="152400" y="3581400"/>
            <a:chExt cx="3466416" cy="2472154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598B2BBA-EBE8-53D9-AE5E-0831B7DF404C}"/>
                </a:ext>
              </a:extLst>
            </p:cNvPr>
            <p:cNvGrpSpPr/>
            <p:nvPr/>
          </p:nvGrpSpPr>
          <p:grpSpPr>
            <a:xfrm>
              <a:off x="152400" y="3581400"/>
              <a:ext cx="3466416" cy="2413118"/>
              <a:chOff x="152400" y="3581400"/>
              <a:chExt cx="3466416" cy="2413118"/>
            </a:xfrm>
          </p:grpSpPr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A74B815-706B-7FFE-F95F-F83B2C2846C1}"/>
                  </a:ext>
                </a:extLst>
              </p:cNvPr>
              <p:cNvGrpSpPr/>
              <p:nvPr/>
            </p:nvGrpSpPr>
            <p:grpSpPr>
              <a:xfrm>
                <a:off x="152400" y="3581400"/>
                <a:ext cx="3466416" cy="2413118"/>
                <a:chOff x="152400" y="3581400"/>
                <a:chExt cx="3466416" cy="2413118"/>
              </a:xfrm>
            </p:grpSpPr>
            <p:graphicFrame>
              <p:nvGraphicFramePr>
                <p:cNvPr id="20" name="Chart 81">
                  <a:extLst>
                    <a:ext uri="{FF2B5EF4-FFF2-40B4-BE49-F238E27FC236}">
                      <a16:creationId xmlns:a16="http://schemas.microsoft.com/office/drawing/2014/main" id="{BEAAC23E-FCE1-AC7B-B2D8-15F92C7029A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52400" y="3581400"/>
                <a:ext cx="3466416" cy="241311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FB37374F-E669-096D-5A16-57A744DE683D}"/>
                    </a:ext>
                  </a:extLst>
                </p:cNvPr>
                <p:cNvSpPr/>
                <p:nvPr/>
              </p:nvSpPr>
              <p:spPr>
                <a:xfrm>
                  <a:off x="2046507" y="4343400"/>
                  <a:ext cx="837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600" b="1" dirty="0">
                      <a:solidFill>
                        <a:srgbClr val="003366"/>
                      </a:solidFill>
                      <a:latin typeface="Calibri"/>
                      <a:ea typeface="ＭＳ Ｐゴシック" pitchFamily="34" charset="-128"/>
                      <a:cs typeface="Arial" panose="020B0604020202020204" pitchFamily="34" charset="0"/>
                    </a:rPr>
                    <a:t>Volume</a:t>
                  </a:r>
                  <a:endParaRPr lang="en-US" sz="1600" b="1" dirty="0">
                    <a:solidFill>
                      <a:srgbClr val="003366"/>
                    </a:solidFill>
                    <a:latin typeface="Calibri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9C89CC9-6BDE-5852-7209-EE047A33537A}"/>
                  </a:ext>
                </a:extLst>
              </p:cNvPr>
              <p:cNvSpPr/>
              <p:nvPr/>
            </p:nvSpPr>
            <p:spPr>
              <a:xfrm>
                <a:off x="606796" y="3775400"/>
                <a:ext cx="89248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solidFill>
                      <a:srgbClr val="003366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Big Data</a:t>
                </a:r>
                <a:endParaRPr lang="pt-BR" sz="1600" dirty="0"/>
              </a:p>
            </p:txBody>
          </p:sp>
        </p:grp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0520E8A-C169-360A-9AD4-EEA20A338883}"/>
                </a:ext>
              </a:extLst>
            </p:cNvPr>
            <p:cNvSpPr/>
            <p:nvPr/>
          </p:nvSpPr>
          <p:spPr>
            <a:xfrm>
              <a:off x="2149060" y="5715000"/>
              <a:ext cx="1119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Velocidade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0FB2C7E-267E-0327-455C-CB0F273731B3}"/>
              </a:ext>
            </a:extLst>
          </p:cNvPr>
          <p:cNvGrpSpPr/>
          <p:nvPr/>
        </p:nvGrpSpPr>
        <p:grpSpPr>
          <a:xfrm>
            <a:off x="4910588" y="156646"/>
            <a:ext cx="1984376" cy="1803173"/>
            <a:chOff x="6801481" y="369568"/>
            <a:chExt cx="1984376" cy="1803173"/>
          </a:xfrm>
        </p:grpSpPr>
        <p:pic>
          <p:nvPicPr>
            <p:cNvPr id="23" name="Picture 2" descr="Resultado de imagem para The Economist Technology Quarterly â the rise and plateau of transistor power.">
              <a:extLst>
                <a:ext uri="{FF2B5EF4-FFF2-40B4-BE49-F238E27FC236}">
                  <a16:creationId xmlns:a16="http://schemas.microsoft.com/office/drawing/2014/main" id="{CA86D011-A19C-1061-0A9D-1C2473766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1481" y="762000"/>
              <a:ext cx="1984376" cy="1410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92AD552-6269-8B56-0428-6FFEB6293B05}"/>
                </a:ext>
              </a:extLst>
            </p:cNvPr>
            <p:cNvSpPr/>
            <p:nvPr/>
          </p:nvSpPr>
          <p:spPr>
            <a:xfrm>
              <a:off x="7136101" y="369568"/>
              <a:ext cx="130446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Lei de Moore</a:t>
              </a:r>
              <a:endParaRPr lang="en-US" sz="1600" b="1" baseline="30000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13BDA8-4779-1DDC-394E-BB629F42206F}"/>
              </a:ext>
            </a:extLst>
          </p:cNvPr>
          <p:cNvSpPr txBox="1"/>
          <p:nvPr/>
        </p:nvSpPr>
        <p:spPr>
          <a:xfrm>
            <a:off x="8293107" y="3916142"/>
            <a:ext cx="17914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Inteligência Artificial</a:t>
            </a:r>
          </a:p>
        </p:txBody>
      </p:sp>
      <p:grpSp>
        <p:nvGrpSpPr>
          <p:cNvPr id="25" name="Agrupar 24"/>
          <p:cNvGrpSpPr/>
          <p:nvPr/>
        </p:nvGrpSpPr>
        <p:grpSpPr>
          <a:xfrm>
            <a:off x="8440114" y="4593214"/>
            <a:ext cx="1523774" cy="1263819"/>
            <a:chOff x="8440114" y="4593214"/>
            <a:chExt cx="1523774" cy="1263819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114" y="4593214"/>
              <a:ext cx="1523774" cy="905931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8678541" y="5549256"/>
              <a:ext cx="104691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err="1"/>
                <a:t>LLMs</a:t>
              </a:r>
              <a:endParaRPr lang="pt-BR" sz="1400" b="1" dirty="0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10131457" y="3928069"/>
            <a:ext cx="1631547" cy="1445509"/>
            <a:chOff x="10131457" y="3928069"/>
            <a:chExt cx="1631547" cy="1445509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5653" y="3928069"/>
              <a:ext cx="1383157" cy="922289"/>
            </a:xfrm>
            <a:prstGeom prst="rect">
              <a:avLst/>
            </a:prstGeom>
          </p:spPr>
        </p:pic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131457" y="4850358"/>
              <a:ext cx="163154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Reconhecimento de Imagens</a:t>
              </a:r>
            </a:p>
          </p:txBody>
        </p:sp>
      </p:grpSp>
      <p:grpSp>
        <p:nvGrpSpPr>
          <p:cNvPr id="27" name="Agrupar 26"/>
          <p:cNvGrpSpPr/>
          <p:nvPr/>
        </p:nvGrpSpPr>
        <p:grpSpPr>
          <a:xfrm>
            <a:off x="10137055" y="5471132"/>
            <a:ext cx="1620354" cy="1117954"/>
            <a:chOff x="10137055" y="5471132"/>
            <a:chExt cx="1620354" cy="1117954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055" y="5471132"/>
              <a:ext cx="1620354" cy="810177"/>
            </a:xfrm>
            <a:prstGeom prst="rect">
              <a:avLst/>
            </a:prstGeom>
          </p:spPr>
        </p:pic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441769" y="6281309"/>
              <a:ext cx="10109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Robótica</a:t>
              </a:r>
            </a:p>
          </p:txBody>
        </p:sp>
      </p:grpSp>
      <p:pic>
        <p:nvPicPr>
          <p:cNvPr id="31" name="Imagem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406" y="260186"/>
            <a:ext cx="3407231" cy="798824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9406" y="1126861"/>
            <a:ext cx="3415397" cy="792763"/>
          </a:xfrm>
          <a:prstGeom prst="rect">
            <a:avLst/>
          </a:prstGeom>
        </p:spPr>
      </p:pic>
      <p:sp>
        <p:nvSpPr>
          <p:cNvPr id="43" name="Elipse 42"/>
          <p:cNvSpPr/>
          <p:nvPr/>
        </p:nvSpPr>
        <p:spPr>
          <a:xfrm>
            <a:off x="7670455" y="844961"/>
            <a:ext cx="4064345" cy="1288639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81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28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Inteligência Artificial, Programação Clássica, </a:t>
            </a:r>
            <a:r>
              <a:rPr lang="pt-BR" sz="2400" dirty="0" err="1"/>
              <a:t>Machine</a:t>
            </a:r>
            <a:r>
              <a:rPr lang="pt-BR" sz="2400" dirty="0"/>
              <a:t>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7070C-152A-448B-AB44-197C88B43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5" y="2077453"/>
            <a:ext cx="3936995" cy="2494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 Explicativo: Linha Dobrada com Ênfase 11">
            <a:extLst>
              <a:ext uri="{FF2B5EF4-FFF2-40B4-BE49-F238E27FC236}">
                <a16:creationId xmlns:a16="http://schemas.microsoft.com/office/drawing/2014/main" id="{4FCBA2EB-B12C-4F82-ADB5-324868DFA6B5}"/>
              </a:ext>
            </a:extLst>
          </p:cNvPr>
          <p:cNvSpPr/>
          <p:nvPr/>
        </p:nvSpPr>
        <p:spPr bwMode="auto">
          <a:xfrm flipH="1">
            <a:off x="228600" y="838200"/>
            <a:ext cx="2511484" cy="6096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28700"/>
              <a:gd name="adj6" fmla="val -43457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rbel" panose="020B0503020204020204" pitchFamily="34" charset="0"/>
              </a:rPr>
              <a:t>Problema</a:t>
            </a:r>
            <a:r>
              <a:rPr kumimoji="0" lang="pt-BR" i="0" u="none" strike="noStrike" cap="none" normalizeH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rbel" panose="020B0503020204020204" pitchFamily="34" charset="0"/>
              </a:rPr>
              <a:t> será resolvido com o auxílio de uma máquina</a:t>
            </a:r>
            <a:endParaRPr kumimoji="0" lang="pt-BR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5" name="Texto Explicativo: Linha Dobrada com Ênfase 11">
            <a:extLst>
              <a:ext uri="{FF2B5EF4-FFF2-40B4-BE49-F238E27FC236}">
                <a16:creationId xmlns:a16="http://schemas.microsoft.com/office/drawing/2014/main" id="{4FCBA2EB-B12C-4F82-ADB5-324868DFA6B5}"/>
              </a:ext>
            </a:extLst>
          </p:cNvPr>
          <p:cNvSpPr/>
          <p:nvPr/>
        </p:nvSpPr>
        <p:spPr bwMode="auto">
          <a:xfrm flipH="1">
            <a:off x="406400" y="5105400"/>
            <a:ext cx="2486084" cy="6096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7089"/>
              <a:gd name="adj6" fmla="val -28383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rbel" panose="020B0503020204020204" pitchFamily="34" charset="0"/>
              </a:rPr>
              <a:t>Problema</a:t>
            </a:r>
            <a:r>
              <a:rPr kumimoji="0" lang="pt-BR" i="0" u="none" strike="noStrike" cap="none" normalizeH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rbel" panose="020B0503020204020204" pitchFamily="34" charset="0"/>
              </a:rPr>
              <a:t> será resolvido pela máquina através de exemplos</a:t>
            </a:r>
            <a:endParaRPr kumimoji="0" lang="pt-BR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Corbel" panose="020B0503020204020204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580" y="1828800"/>
            <a:ext cx="6040820" cy="2895600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6477000" y="4267200"/>
            <a:ext cx="914400" cy="4572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6324600" y="3962400"/>
            <a:ext cx="914400" cy="4572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0742168" y="2514600"/>
            <a:ext cx="914400" cy="4572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/>
          <p:cNvCxnSpPr>
            <a:stCxn id="8" idx="0"/>
            <a:endCxn id="23" idx="2"/>
          </p:cNvCxnSpPr>
          <p:nvPr/>
        </p:nvCxnSpPr>
        <p:spPr>
          <a:xfrm flipV="1">
            <a:off x="6781800" y="1131332"/>
            <a:ext cx="2815787" cy="2831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7" idx="6"/>
            <a:endCxn id="23" idx="2"/>
          </p:cNvCxnSpPr>
          <p:nvPr/>
        </p:nvCxnSpPr>
        <p:spPr>
          <a:xfrm flipV="1">
            <a:off x="7391400" y="1131332"/>
            <a:ext cx="2206187" cy="33644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9" idx="0"/>
            <a:endCxn id="23" idx="2"/>
          </p:cNvCxnSpPr>
          <p:nvPr/>
        </p:nvCxnSpPr>
        <p:spPr>
          <a:xfrm flipH="1" flipV="1">
            <a:off x="9597587" y="1131332"/>
            <a:ext cx="1601781" cy="1383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8340287" y="762000"/>
            <a:ext cx="2514600" cy="369332"/>
          </a:xfrm>
          <a:prstGeom prst="rect">
            <a:avLst/>
          </a:prstGeom>
          <a:noFill/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Decisões de Negócio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D6EC1F7-9BA8-4E26-92A9-D6AA4FCFCB56}"/>
              </a:ext>
            </a:extLst>
          </p:cNvPr>
          <p:cNvSpPr/>
          <p:nvPr/>
        </p:nvSpPr>
        <p:spPr>
          <a:xfrm>
            <a:off x="4800600" y="4953000"/>
            <a:ext cx="617422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 principal para um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executivo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é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entender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quais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problemas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se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prestam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serem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resolvidos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pelo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Aprendizado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de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Máquina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e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quais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NÃO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são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!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18991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23" grpId="0" animBg="1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52600"/>
            <a:ext cx="3733800" cy="238125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9423400" cy="1066800"/>
          </a:xfrm>
        </p:spPr>
        <p:txBody>
          <a:bodyPr>
            <a:normAutofit/>
          </a:bodyPr>
          <a:lstStyle/>
          <a:p>
            <a:r>
              <a:rPr lang="pt-BR" sz="2400" dirty="0"/>
              <a:t>A Escolha do Modelo: Não Supervisionado ou Supervisionado?  			       Predição de Valor ou de Categoria?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F38C243-402C-42C5-9A6B-24DF49D5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927" y="1219200"/>
            <a:ext cx="6224273" cy="463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 Explicativo: Linha Dobrada com Ênfase 11">
            <a:extLst>
              <a:ext uri="{FF2B5EF4-FFF2-40B4-BE49-F238E27FC236}">
                <a16:creationId xmlns:a16="http://schemas.microsoft.com/office/drawing/2014/main" id="{4FCBA2EB-B12C-4F82-ADB5-324868DFA6B5}"/>
              </a:ext>
            </a:extLst>
          </p:cNvPr>
          <p:cNvSpPr/>
          <p:nvPr/>
        </p:nvSpPr>
        <p:spPr bwMode="auto">
          <a:xfrm flipH="1">
            <a:off x="328927" y="4953000"/>
            <a:ext cx="1371600" cy="6096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8142"/>
              <a:gd name="adj6" fmla="val -59279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solidFill>
                  <a:srgbClr val="003366"/>
                </a:solidFill>
                <a:effectLst/>
                <a:latin typeface="Corbel" panose="020B0503020204020204" pitchFamily="34" charset="0"/>
              </a:rPr>
              <a:t>Os valores de saída são</a:t>
            </a:r>
            <a:r>
              <a:rPr kumimoji="0" lang="pt-BR" i="0" u="none" strike="noStrike" cap="none" normalizeH="0" dirty="0">
                <a:ln>
                  <a:noFill/>
                </a:ln>
                <a:solidFill>
                  <a:srgbClr val="003366"/>
                </a:solidFill>
                <a:effectLst/>
                <a:latin typeface="Corbel" panose="020B0503020204020204" pitchFamily="34" charset="0"/>
              </a:rPr>
              <a:t> categóricos</a:t>
            </a:r>
            <a:endParaRPr kumimoji="0" lang="pt-BR" i="0" u="none" strike="noStrike" cap="none" normalizeH="0" baseline="0" dirty="0">
              <a:ln>
                <a:noFill/>
              </a:ln>
              <a:solidFill>
                <a:srgbClr val="003366"/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10" name="Texto Explicativo: Linha Dobrada com Ênfase 11">
            <a:extLst>
              <a:ext uri="{FF2B5EF4-FFF2-40B4-BE49-F238E27FC236}">
                <a16:creationId xmlns:a16="http://schemas.microsoft.com/office/drawing/2014/main" id="{4FCBA2EB-B12C-4F82-ADB5-324868DFA6B5}"/>
              </a:ext>
            </a:extLst>
          </p:cNvPr>
          <p:cNvSpPr/>
          <p:nvPr/>
        </p:nvSpPr>
        <p:spPr bwMode="auto">
          <a:xfrm flipH="1">
            <a:off x="2005327" y="5181600"/>
            <a:ext cx="1371600" cy="6096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1300"/>
              <a:gd name="adj6" fmla="val -47583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rbel" panose="020B0503020204020204" pitchFamily="34" charset="0"/>
              </a:rPr>
              <a:t>Os valores de saída são</a:t>
            </a:r>
            <a:r>
              <a:rPr kumimoji="0" lang="pt-BR" i="0" u="none" strike="noStrike" cap="none" normalizeH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rbel" panose="020B0503020204020204" pitchFamily="34" charset="0"/>
              </a:rPr>
              <a:t> contínuos</a:t>
            </a:r>
            <a:endParaRPr kumimoji="0" lang="pt-BR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orbel" panose="020B0503020204020204" pitchFamily="34" charset="0"/>
            </a:endParaRPr>
          </a:p>
        </p:txBody>
      </p:sp>
      <p:sp>
        <p:nvSpPr>
          <p:cNvPr id="9" name="Texto Explicativo: Linha Dobrada com Ênfase 5">
            <a:extLst>
              <a:ext uri="{FF2B5EF4-FFF2-40B4-BE49-F238E27FC236}">
                <a16:creationId xmlns:a16="http://schemas.microsoft.com/office/drawing/2014/main" id="{A1D156E9-B627-48B2-8739-B29C37979119}"/>
              </a:ext>
            </a:extLst>
          </p:cNvPr>
          <p:cNvSpPr/>
          <p:nvPr/>
        </p:nvSpPr>
        <p:spPr bwMode="auto">
          <a:xfrm>
            <a:off x="533400" y="1219200"/>
            <a:ext cx="1504122" cy="1112952"/>
          </a:xfrm>
          <a:prstGeom prst="accentCallout2">
            <a:avLst>
              <a:gd name="adj1" fmla="val 21429"/>
              <a:gd name="adj2" fmla="val 99691"/>
              <a:gd name="adj3" fmla="val 21429"/>
              <a:gd name="adj4" fmla="val 107433"/>
              <a:gd name="adj5" fmla="val 92569"/>
              <a:gd name="adj6" fmla="val 172111"/>
            </a:avLst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i="0" u="none" strike="noStrike" cap="none" normalizeH="0" baseline="0" dirty="0">
                <a:ln>
                  <a:noFill/>
                </a:ln>
                <a:effectLst/>
                <a:latin typeface="Corbel" panose="020B0503020204020204" pitchFamily="34" charset="0"/>
              </a:rPr>
              <a:t>Temos exemplos dos resultados esperados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9039044" y="1154668"/>
            <a:ext cx="246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Conceito Importante</a:t>
            </a:r>
          </a:p>
        </p:txBody>
      </p:sp>
    </p:spTree>
    <p:extLst>
      <p:ext uri="{BB962C8B-B14F-4D97-AF65-F5344CB8AC3E}">
        <p14:creationId xmlns:p14="http://schemas.microsoft.com/office/powerpoint/2010/main" val="31642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9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647358"/>
          </a:xfrm>
        </p:spPr>
        <p:txBody>
          <a:bodyPr>
            <a:normAutofit/>
          </a:bodyPr>
          <a:lstStyle/>
          <a:p>
            <a:r>
              <a:rPr lang="pt-BR" sz="2400" dirty="0"/>
              <a:t>Ciclo de Desenvolvimento em </a:t>
            </a:r>
            <a:r>
              <a:rPr lang="pt-BR" sz="2400" dirty="0" err="1"/>
              <a:t>Machine</a:t>
            </a:r>
            <a:r>
              <a:rPr lang="pt-BR" sz="2400" dirty="0"/>
              <a:t> Learning</a:t>
            </a:r>
          </a:p>
        </p:txBody>
      </p:sp>
      <p:grpSp>
        <p:nvGrpSpPr>
          <p:cNvPr id="27" name="Agrupar 26"/>
          <p:cNvGrpSpPr/>
          <p:nvPr/>
        </p:nvGrpSpPr>
        <p:grpSpPr>
          <a:xfrm>
            <a:off x="7162800" y="914400"/>
            <a:ext cx="2459793" cy="1538098"/>
            <a:chOff x="977461" y="951021"/>
            <a:chExt cx="2685815" cy="1538098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CC81016C-68CD-47F7-9981-24A2B6A77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9499" y="1025194"/>
              <a:ext cx="916443" cy="916443"/>
            </a:xfrm>
            <a:prstGeom prst="rect">
              <a:avLst/>
            </a:prstGeom>
          </p:spPr>
        </p:pic>
        <p:sp>
          <p:nvSpPr>
            <p:cNvPr id="5" name="Retângulo: Cantos Arredondados 1">
              <a:extLst>
                <a:ext uri="{FF2B5EF4-FFF2-40B4-BE49-F238E27FC236}">
                  <a16:creationId xmlns:a16="http://schemas.microsoft.com/office/drawing/2014/main" id="{565299C3-9900-4049-8346-F6DAA4E90443}"/>
                </a:ext>
              </a:extLst>
            </p:cNvPr>
            <p:cNvSpPr/>
            <p:nvPr/>
          </p:nvSpPr>
          <p:spPr bwMode="auto">
            <a:xfrm>
              <a:off x="977461" y="951021"/>
              <a:ext cx="2566575" cy="1538098"/>
            </a:xfrm>
            <a:prstGeom prst="roundRect">
              <a:avLst>
                <a:gd name="adj" fmla="val 2077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BA3138C-EC9A-4EE8-928E-EB85A9079668}"/>
                </a:ext>
              </a:extLst>
            </p:cNvPr>
            <p:cNvSpPr/>
            <p:nvPr/>
          </p:nvSpPr>
          <p:spPr>
            <a:xfrm>
              <a:off x="1650363" y="1231805"/>
              <a:ext cx="2012913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Bancos</a:t>
              </a:r>
              <a:endParaRPr lang="pt-BR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0A79442-D5CA-44A2-8AFB-74B9A1AB4864}"/>
                </a:ext>
              </a:extLst>
            </p:cNvPr>
            <p:cNvSpPr/>
            <p:nvPr/>
          </p:nvSpPr>
          <p:spPr bwMode="auto">
            <a:xfrm>
              <a:off x="1120106" y="1977922"/>
              <a:ext cx="2268135" cy="39517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Oferta de crédito</a:t>
              </a:r>
              <a:r>
                <a: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</a:t>
              </a:r>
            </a:p>
          </p:txBody>
        </p:sp>
      </p:grpSp>
      <p:grpSp>
        <p:nvGrpSpPr>
          <p:cNvPr id="28" name="Agrupar 27"/>
          <p:cNvGrpSpPr/>
          <p:nvPr/>
        </p:nvGrpSpPr>
        <p:grpSpPr>
          <a:xfrm>
            <a:off x="9590416" y="4172964"/>
            <a:ext cx="2398600" cy="1538098"/>
            <a:chOff x="4403178" y="674224"/>
            <a:chExt cx="3288926" cy="2237263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524B608B-2EB5-471E-9558-6918857731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80" t="20301" r="9281" b="19220"/>
            <a:stretch/>
          </p:blipFill>
          <p:spPr>
            <a:xfrm rot="19800000">
              <a:off x="4404343" y="865853"/>
              <a:ext cx="901340" cy="676006"/>
            </a:xfrm>
            <a:prstGeom prst="rect">
              <a:avLst/>
            </a:prstGeom>
          </p:spPr>
        </p:pic>
        <p:sp>
          <p:nvSpPr>
            <p:cNvPr id="6" name="Retângulo: Cantos Arredondados 28">
              <a:extLst>
                <a:ext uri="{FF2B5EF4-FFF2-40B4-BE49-F238E27FC236}">
                  <a16:creationId xmlns:a16="http://schemas.microsoft.com/office/drawing/2014/main" id="{A7656D67-046A-473C-8311-6D5C388D4111}"/>
                </a:ext>
              </a:extLst>
            </p:cNvPr>
            <p:cNvSpPr/>
            <p:nvPr/>
          </p:nvSpPr>
          <p:spPr bwMode="auto">
            <a:xfrm>
              <a:off x="4403178" y="674224"/>
              <a:ext cx="3217358" cy="2237263"/>
            </a:xfrm>
            <a:prstGeom prst="roundRect">
              <a:avLst>
                <a:gd name="adj" fmla="val 2077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7491747-D7E4-4C87-8B03-55755D54238A}"/>
                </a:ext>
              </a:extLst>
            </p:cNvPr>
            <p:cNvSpPr/>
            <p:nvPr/>
          </p:nvSpPr>
          <p:spPr>
            <a:xfrm>
              <a:off x="4941314" y="812731"/>
              <a:ext cx="2750790" cy="8505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Marketing</a:t>
              </a:r>
              <a:endParaRPr lang="pt-B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8CD0194C-EBDE-4172-9D54-CE1FB64B3F11}"/>
                </a:ext>
              </a:extLst>
            </p:cNvPr>
            <p:cNvSpPr/>
            <p:nvPr/>
          </p:nvSpPr>
          <p:spPr bwMode="auto">
            <a:xfrm>
              <a:off x="4553314" y="1644731"/>
              <a:ext cx="2990486" cy="94983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pt-BR" sz="2000" b="1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n-lt"/>
                </a:rPr>
                <a:t>Análise de sentimento</a:t>
              </a:r>
            </a:p>
          </p:txBody>
        </p:sp>
      </p:grpSp>
      <p:grpSp>
        <p:nvGrpSpPr>
          <p:cNvPr id="29" name="Agrupar 28"/>
          <p:cNvGrpSpPr/>
          <p:nvPr/>
        </p:nvGrpSpPr>
        <p:grpSpPr>
          <a:xfrm>
            <a:off x="7162800" y="2543682"/>
            <a:ext cx="2350587" cy="1538098"/>
            <a:chOff x="7930605" y="655547"/>
            <a:chExt cx="3048000" cy="2468653"/>
          </a:xfrm>
        </p:grpSpPr>
        <p:sp>
          <p:nvSpPr>
            <p:cNvPr id="7" name="Retângulo: Cantos Arredondados 29">
              <a:extLst>
                <a:ext uri="{FF2B5EF4-FFF2-40B4-BE49-F238E27FC236}">
                  <a16:creationId xmlns:a16="http://schemas.microsoft.com/office/drawing/2014/main" id="{6178FBA0-AD1D-43B4-808C-867B3A00CE8F}"/>
                </a:ext>
              </a:extLst>
            </p:cNvPr>
            <p:cNvSpPr/>
            <p:nvPr/>
          </p:nvSpPr>
          <p:spPr bwMode="auto">
            <a:xfrm>
              <a:off x="7930605" y="655547"/>
              <a:ext cx="3048000" cy="2468653"/>
            </a:xfrm>
            <a:prstGeom prst="roundRect">
              <a:avLst>
                <a:gd name="adj" fmla="val 2077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8B50E65-67B1-4D82-A3A7-30D7C1A11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2881" y="951575"/>
              <a:ext cx="570718" cy="570718"/>
            </a:xfrm>
            <a:prstGeom prst="rect">
              <a:avLst/>
            </a:prstGeom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B94F829-7B5B-4087-A874-61AA2ED9AD62}"/>
                </a:ext>
              </a:extLst>
            </p:cNvPr>
            <p:cNvSpPr/>
            <p:nvPr/>
          </p:nvSpPr>
          <p:spPr>
            <a:xfrm>
              <a:off x="8612070" y="875879"/>
              <a:ext cx="2138500" cy="9385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Seguros</a:t>
              </a:r>
              <a:endParaRPr lang="pt-B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5B2A3AED-99EC-435E-AB0D-15A930B205E2}"/>
                </a:ext>
              </a:extLst>
            </p:cNvPr>
            <p:cNvSpPr/>
            <p:nvPr/>
          </p:nvSpPr>
          <p:spPr bwMode="auto">
            <a:xfrm>
              <a:off x="8295002" y="1758029"/>
              <a:ext cx="2319205" cy="106255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pt-BR" sz="2000" b="1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n-lt"/>
                </a:rPr>
                <a:t>Identificação de Fraudes</a:t>
              </a:r>
            </a:p>
          </p:txBody>
        </p:sp>
      </p:grpSp>
      <p:grpSp>
        <p:nvGrpSpPr>
          <p:cNvPr id="30" name="Agrupar 29"/>
          <p:cNvGrpSpPr/>
          <p:nvPr/>
        </p:nvGrpSpPr>
        <p:grpSpPr>
          <a:xfrm>
            <a:off x="9592119" y="2569291"/>
            <a:ext cx="2350587" cy="1538098"/>
            <a:chOff x="662286" y="3276600"/>
            <a:chExt cx="3372289" cy="2743199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30693D61-D7A2-41D3-A2DF-B48F58B4F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3663" y="3670010"/>
              <a:ext cx="643850" cy="643849"/>
            </a:xfrm>
            <a:prstGeom prst="rect">
              <a:avLst/>
            </a:prstGeom>
          </p:spPr>
        </p:pic>
        <p:sp>
          <p:nvSpPr>
            <p:cNvPr id="18" name="Retângulo: Cantos Arredondados 1">
              <a:extLst>
                <a:ext uri="{FF2B5EF4-FFF2-40B4-BE49-F238E27FC236}">
                  <a16:creationId xmlns:a16="http://schemas.microsoft.com/office/drawing/2014/main" id="{565299C3-9900-4049-8346-F6DAA4E90443}"/>
                </a:ext>
              </a:extLst>
            </p:cNvPr>
            <p:cNvSpPr/>
            <p:nvPr/>
          </p:nvSpPr>
          <p:spPr bwMode="auto">
            <a:xfrm>
              <a:off x="662286" y="3276600"/>
              <a:ext cx="3372289" cy="2743199"/>
            </a:xfrm>
            <a:prstGeom prst="roundRect">
              <a:avLst>
                <a:gd name="adj" fmla="val 2077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BA3138C-EC9A-4EE8-928E-EB85A9079668}"/>
                </a:ext>
              </a:extLst>
            </p:cNvPr>
            <p:cNvSpPr/>
            <p:nvPr/>
          </p:nvSpPr>
          <p:spPr>
            <a:xfrm>
              <a:off x="1564679" y="3495139"/>
              <a:ext cx="2012913" cy="10429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Saúde</a:t>
              </a:r>
              <a:endParaRPr lang="pt-B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DD6FBE4D-EF40-48F1-8276-AD662D0381DF}"/>
                </a:ext>
              </a:extLst>
            </p:cNvPr>
            <p:cNvSpPr/>
            <p:nvPr/>
          </p:nvSpPr>
          <p:spPr bwMode="auto">
            <a:xfrm>
              <a:off x="711558" y="4544000"/>
              <a:ext cx="3252401" cy="12395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pt-BR" sz="2000" b="1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n-lt"/>
                </a:rPr>
                <a:t>Atendimento</a:t>
              </a:r>
              <a:r>
                <a:rPr kumimoji="0" lang="pt-BR" sz="2000" b="1" i="0" u="none" strike="noStrike" cap="none" normalizeH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n-lt"/>
                </a:rPr>
                <a:t> </a:t>
              </a:r>
              <a:r>
                <a:rPr 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Preventivo</a:t>
              </a:r>
              <a:endParaRPr kumimoji="0" lang="pt-BR" sz="2000" b="1" i="0" u="none" strike="noStrike" cap="none" normalizeH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endParaRPr>
            </a:p>
          </p:txBody>
        </p:sp>
      </p:grpSp>
      <p:grpSp>
        <p:nvGrpSpPr>
          <p:cNvPr id="33" name="Agrupar 32"/>
          <p:cNvGrpSpPr/>
          <p:nvPr/>
        </p:nvGrpSpPr>
        <p:grpSpPr>
          <a:xfrm>
            <a:off x="7162800" y="4172964"/>
            <a:ext cx="2359924" cy="1538098"/>
            <a:chOff x="4648200" y="3421880"/>
            <a:chExt cx="2359924" cy="1538098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BE6DB794-12B7-4E2B-B080-D4499A890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7701" y="3629430"/>
              <a:ext cx="500729" cy="380002"/>
            </a:xfrm>
            <a:prstGeom prst="rect">
              <a:avLst/>
            </a:prstGeom>
          </p:spPr>
        </p:pic>
        <p:sp>
          <p:nvSpPr>
            <p:cNvPr id="19" name="Retângulo: Cantos Arredondados 28">
              <a:extLst>
                <a:ext uri="{FF2B5EF4-FFF2-40B4-BE49-F238E27FC236}">
                  <a16:creationId xmlns:a16="http://schemas.microsoft.com/office/drawing/2014/main" id="{A7656D67-046A-473C-8311-6D5C388D4111}"/>
                </a:ext>
              </a:extLst>
            </p:cNvPr>
            <p:cNvSpPr/>
            <p:nvPr/>
          </p:nvSpPr>
          <p:spPr bwMode="auto">
            <a:xfrm>
              <a:off x="4648200" y="3421880"/>
              <a:ext cx="2353970" cy="1538098"/>
            </a:xfrm>
            <a:prstGeom prst="roundRect">
              <a:avLst>
                <a:gd name="adj" fmla="val 2077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2B972D37-B597-4DA4-812D-21CF9064AF64}"/>
                </a:ext>
              </a:extLst>
            </p:cNvPr>
            <p:cNvSpPr/>
            <p:nvPr/>
          </p:nvSpPr>
          <p:spPr>
            <a:xfrm>
              <a:off x="5197701" y="3516116"/>
              <a:ext cx="168625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RH</a:t>
              </a:r>
              <a:endParaRPr lang="pt-B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69CE5811-7C07-4B7E-A600-B874CA043085}"/>
                </a:ext>
              </a:extLst>
            </p:cNvPr>
            <p:cNvSpPr/>
            <p:nvPr/>
          </p:nvSpPr>
          <p:spPr bwMode="auto">
            <a:xfrm>
              <a:off x="4753362" y="4041548"/>
              <a:ext cx="2254762" cy="91842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pt-BR" sz="2000" b="1" i="0" u="none" strike="noStrike" cap="none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n-lt"/>
                </a:rPr>
                <a:t>Seleção de currículos</a:t>
              </a:r>
            </a:p>
          </p:txBody>
        </p:sp>
      </p:grpSp>
      <p:grpSp>
        <p:nvGrpSpPr>
          <p:cNvPr id="32" name="Agrupar 31"/>
          <p:cNvGrpSpPr/>
          <p:nvPr/>
        </p:nvGrpSpPr>
        <p:grpSpPr>
          <a:xfrm>
            <a:off x="9590416" y="914400"/>
            <a:ext cx="2350587" cy="1538098"/>
            <a:chOff x="7924800" y="3276601"/>
            <a:chExt cx="2961613" cy="241936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FA07490B-A19D-46EA-BF60-1F7312941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11103" y="3660982"/>
              <a:ext cx="529438" cy="554649"/>
            </a:xfrm>
            <a:prstGeom prst="rect">
              <a:avLst/>
            </a:prstGeom>
          </p:spPr>
        </p:pic>
        <p:sp>
          <p:nvSpPr>
            <p:cNvPr id="20" name="Retângulo: Cantos Arredondados 29">
              <a:extLst>
                <a:ext uri="{FF2B5EF4-FFF2-40B4-BE49-F238E27FC236}">
                  <a16:creationId xmlns:a16="http://schemas.microsoft.com/office/drawing/2014/main" id="{6178FBA0-AD1D-43B4-808C-867B3A00CE8F}"/>
                </a:ext>
              </a:extLst>
            </p:cNvPr>
            <p:cNvSpPr/>
            <p:nvPr/>
          </p:nvSpPr>
          <p:spPr bwMode="auto">
            <a:xfrm>
              <a:off x="7924800" y="3276601"/>
              <a:ext cx="2961613" cy="2419365"/>
            </a:xfrm>
            <a:prstGeom prst="roundRect">
              <a:avLst>
                <a:gd name="adj" fmla="val 20770"/>
              </a:avLst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877FC74E-4292-46F6-9F09-546689890276}"/>
                </a:ext>
              </a:extLst>
            </p:cNvPr>
            <p:cNvSpPr/>
            <p:nvPr/>
          </p:nvSpPr>
          <p:spPr>
            <a:xfrm>
              <a:off x="8498388" y="3460312"/>
              <a:ext cx="2382757" cy="919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Tahoma" panose="020B0604030504040204" pitchFamily="34" charset="0"/>
                  <a:cs typeface="Tahoma" panose="020B0604030504040204" pitchFamily="34" charset="0"/>
                </a:rPr>
                <a:t>Telecom</a:t>
              </a:r>
              <a:endParaRPr lang="pt-BR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0801E8A-DD32-4C9C-9855-A598E2450CD5}"/>
                </a:ext>
              </a:extLst>
            </p:cNvPr>
            <p:cNvSpPr/>
            <p:nvPr/>
          </p:nvSpPr>
          <p:spPr bwMode="auto">
            <a:xfrm>
              <a:off x="8504253" y="4457679"/>
              <a:ext cx="1927908" cy="99060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pt-BR" sz="2000" b="1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Churning</a:t>
              </a:r>
              <a:r>
                <a:rPr lang="pt-BR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 de contratos</a:t>
              </a:r>
            </a:p>
          </p:txBody>
        </p:sp>
      </p:grpSp>
      <p:grpSp>
        <p:nvGrpSpPr>
          <p:cNvPr id="34" name="Agrupar 33"/>
          <p:cNvGrpSpPr/>
          <p:nvPr/>
        </p:nvGrpSpPr>
        <p:grpSpPr>
          <a:xfrm>
            <a:off x="553802" y="878541"/>
            <a:ext cx="6583526" cy="4932647"/>
            <a:chOff x="1447800" y="795071"/>
            <a:chExt cx="6583526" cy="4932647"/>
          </a:xfrm>
        </p:grpSpPr>
        <p:sp>
          <p:nvSpPr>
            <p:cNvPr id="35" name="Circular Arrow 34"/>
            <p:cNvSpPr/>
            <p:nvPr/>
          </p:nvSpPr>
          <p:spPr>
            <a:xfrm rot="6623666">
              <a:off x="2493856" y="190248"/>
              <a:ext cx="4876800" cy="6198140"/>
            </a:xfrm>
            <a:prstGeom prst="circularArrow">
              <a:avLst>
                <a:gd name="adj1" fmla="val 4218"/>
                <a:gd name="adj2" fmla="val 802753"/>
                <a:gd name="adj3" fmla="val 6792850"/>
                <a:gd name="adj4" fmla="val 6020933"/>
                <a:gd name="adj5" fmla="val 6970"/>
              </a:avLst>
            </a:prstGeom>
            <a:noFill/>
            <a:ln w="3810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6" name="Circular Arrow 18"/>
            <p:cNvSpPr/>
            <p:nvPr/>
          </p:nvSpPr>
          <p:spPr>
            <a:xfrm rot="5400000">
              <a:off x="2108470" y="134401"/>
              <a:ext cx="4876800" cy="6198140"/>
            </a:xfrm>
            <a:prstGeom prst="circularArrow">
              <a:avLst>
                <a:gd name="adj1" fmla="val 5321"/>
                <a:gd name="adj2" fmla="val 630988"/>
                <a:gd name="adj3" fmla="val 7337081"/>
                <a:gd name="adj4" fmla="val 10800000"/>
                <a:gd name="adj5" fmla="val 76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7" name="Agrupar 36"/>
          <p:cNvGrpSpPr/>
          <p:nvPr/>
        </p:nvGrpSpPr>
        <p:grpSpPr>
          <a:xfrm>
            <a:off x="2763602" y="997869"/>
            <a:ext cx="1600200" cy="914400"/>
            <a:chOff x="3657600" y="914400"/>
            <a:chExt cx="1600200" cy="914400"/>
          </a:xfrm>
        </p:grpSpPr>
        <p:sp>
          <p:nvSpPr>
            <p:cNvPr id="38" name="Rounded Rectangle 6"/>
            <p:cNvSpPr/>
            <p:nvPr/>
          </p:nvSpPr>
          <p:spPr>
            <a:xfrm>
              <a:off x="3657600" y="990600"/>
              <a:ext cx="1600200" cy="838200"/>
            </a:xfrm>
            <a:prstGeom prst="roundRect">
              <a:avLst/>
            </a:prstGeom>
            <a:solidFill>
              <a:srgbClr val="00336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39" name="TextBox 12"/>
            <p:cNvSpPr txBox="1"/>
            <p:nvPr/>
          </p:nvSpPr>
          <p:spPr>
            <a:xfrm>
              <a:off x="3810000" y="1225034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FFFF"/>
                  </a:solidFill>
                  <a:latin typeface="+mn-lt"/>
                </a:rPr>
                <a:t>Problema</a:t>
              </a:r>
              <a:endParaRPr lang="en-US" b="1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40" name="Oval 35"/>
            <p:cNvSpPr/>
            <p:nvPr/>
          </p:nvSpPr>
          <p:spPr>
            <a:xfrm>
              <a:off x="3709236" y="914400"/>
              <a:ext cx="279400" cy="2794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2"/>
                  </a:solidFill>
                </a:rPr>
                <a:t>1</a:t>
              </a:r>
            </a:p>
          </p:txBody>
        </p:sp>
      </p:grpSp>
      <p:grpSp>
        <p:nvGrpSpPr>
          <p:cNvPr id="41" name="Agrupar 40"/>
          <p:cNvGrpSpPr/>
          <p:nvPr/>
        </p:nvGrpSpPr>
        <p:grpSpPr>
          <a:xfrm>
            <a:off x="5231712" y="2095161"/>
            <a:ext cx="1600200" cy="890587"/>
            <a:chOff x="5867400" y="2067358"/>
            <a:chExt cx="1600200" cy="890587"/>
          </a:xfrm>
        </p:grpSpPr>
        <p:sp>
          <p:nvSpPr>
            <p:cNvPr id="42" name="Rounded Rectangle 8"/>
            <p:cNvSpPr/>
            <p:nvPr/>
          </p:nvSpPr>
          <p:spPr>
            <a:xfrm>
              <a:off x="5867400" y="2119745"/>
              <a:ext cx="1600200" cy="838200"/>
            </a:xfrm>
            <a:prstGeom prst="roundRect">
              <a:avLst/>
            </a:prstGeom>
            <a:solidFill>
              <a:srgbClr val="00336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3" name="TextBox 15"/>
            <p:cNvSpPr txBox="1"/>
            <p:nvPr/>
          </p:nvSpPr>
          <p:spPr>
            <a:xfrm>
              <a:off x="5981700" y="2354179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+mn-lt"/>
                </a:rPr>
                <a:t>Dados</a:t>
              </a:r>
            </a:p>
          </p:txBody>
        </p:sp>
        <p:sp>
          <p:nvSpPr>
            <p:cNvPr id="44" name="Oval 36"/>
            <p:cNvSpPr/>
            <p:nvPr/>
          </p:nvSpPr>
          <p:spPr>
            <a:xfrm>
              <a:off x="5981700" y="2067358"/>
              <a:ext cx="279400" cy="28098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2"/>
                  </a:solidFill>
                </a:rPr>
                <a:t>2</a:t>
              </a:r>
            </a:p>
          </p:txBody>
        </p:sp>
      </p:grpSp>
      <p:grpSp>
        <p:nvGrpSpPr>
          <p:cNvPr id="45" name="Agrupar 44"/>
          <p:cNvGrpSpPr/>
          <p:nvPr/>
        </p:nvGrpSpPr>
        <p:grpSpPr>
          <a:xfrm>
            <a:off x="5007118" y="3900165"/>
            <a:ext cx="1654283" cy="822571"/>
            <a:chOff x="5867400" y="3429000"/>
            <a:chExt cx="1600200" cy="914400"/>
          </a:xfrm>
        </p:grpSpPr>
        <p:sp>
          <p:nvSpPr>
            <p:cNvPr id="46" name="Rounded Rectangle 7"/>
            <p:cNvSpPr/>
            <p:nvPr/>
          </p:nvSpPr>
          <p:spPr>
            <a:xfrm>
              <a:off x="5867400" y="3505200"/>
              <a:ext cx="1600200" cy="838200"/>
            </a:xfrm>
            <a:prstGeom prst="roundRect">
              <a:avLst/>
            </a:prstGeom>
            <a:solidFill>
              <a:srgbClr val="00336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47" name="TextBox 14"/>
            <p:cNvSpPr txBox="1"/>
            <p:nvPr/>
          </p:nvSpPr>
          <p:spPr>
            <a:xfrm>
              <a:off x="5985657" y="3714293"/>
              <a:ext cx="1442341" cy="410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FFFF"/>
                  </a:solidFill>
                  <a:latin typeface="+mn-lt"/>
                </a:rPr>
                <a:t>Modelo</a:t>
              </a:r>
              <a:endParaRPr lang="en-US" b="1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48" name="Oval 37"/>
            <p:cNvSpPr/>
            <p:nvPr/>
          </p:nvSpPr>
          <p:spPr>
            <a:xfrm>
              <a:off x="5976938" y="3429000"/>
              <a:ext cx="271291" cy="29362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2"/>
                  </a:solidFill>
                </a:rPr>
                <a:t>3</a:t>
              </a:r>
            </a:p>
          </p:txBody>
        </p:sp>
      </p:grpSp>
      <p:grpSp>
        <p:nvGrpSpPr>
          <p:cNvPr id="49" name="Agrupar 48"/>
          <p:cNvGrpSpPr/>
          <p:nvPr/>
        </p:nvGrpSpPr>
        <p:grpSpPr>
          <a:xfrm>
            <a:off x="1087201" y="4235251"/>
            <a:ext cx="1600200" cy="914400"/>
            <a:chOff x="3657600" y="4572000"/>
            <a:chExt cx="1600200" cy="914400"/>
          </a:xfrm>
        </p:grpSpPr>
        <p:sp>
          <p:nvSpPr>
            <p:cNvPr id="50" name="Rounded Rectangle 11"/>
            <p:cNvSpPr/>
            <p:nvPr/>
          </p:nvSpPr>
          <p:spPr>
            <a:xfrm>
              <a:off x="3657600" y="4648200"/>
              <a:ext cx="1600200" cy="838200"/>
            </a:xfrm>
            <a:prstGeom prst="roundRect">
              <a:avLst/>
            </a:prstGeom>
            <a:solidFill>
              <a:srgbClr val="00336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51" name="TextBox 16"/>
            <p:cNvSpPr txBox="1"/>
            <p:nvPr/>
          </p:nvSpPr>
          <p:spPr>
            <a:xfrm>
              <a:off x="3733799" y="4876800"/>
              <a:ext cx="1434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FFFF"/>
                  </a:solidFill>
                  <a:latin typeface="+mn-lt"/>
                </a:rPr>
                <a:t>Resultados</a:t>
              </a:r>
              <a:endParaRPr lang="en-US" b="1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52" name="Oval 38"/>
            <p:cNvSpPr/>
            <p:nvPr/>
          </p:nvSpPr>
          <p:spPr>
            <a:xfrm>
              <a:off x="3709236" y="4572000"/>
              <a:ext cx="280987" cy="28098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2"/>
                  </a:solidFill>
                </a:rPr>
                <a:t>4</a:t>
              </a:r>
            </a:p>
          </p:txBody>
        </p:sp>
      </p:grpSp>
      <p:grpSp>
        <p:nvGrpSpPr>
          <p:cNvPr id="53" name="Agrupar 52"/>
          <p:cNvGrpSpPr/>
          <p:nvPr/>
        </p:nvGrpSpPr>
        <p:grpSpPr>
          <a:xfrm>
            <a:off x="96602" y="2375554"/>
            <a:ext cx="1676400" cy="876732"/>
            <a:chOff x="914401" y="2081213"/>
            <a:chExt cx="2089988" cy="876732"/>
          </a:xfrm>
        </p:grpSpPr>
        <p:sp>
          <p:nvSpPr>
            <p:cNvPr id="54" name="Rounded Rectangle 10"/>
            <p:cNvSpPr/>
            <p:nvPr/>
          </p:nvSpPr>
          <p:spPr>
            <a:xfrm>
              <a:off x="914401" y="2119745"/>
              <a:ext cx="2089988" cy="838200"/>
            </a:xfrm>
            <a:prstGeom prst="roundRect">
              <a:avLst/>
            </a:prstGeom>
            <a:solidFill>
              <a:srgbClr val="00336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55" name="TextBox 13"/>
            <p:cNvSpPr txBox="1"/>
            <p:nvPr/>
          </p:nvSpPr>
          <p:spPr>
            <a:xfrm>
              <a:off x="914401" y="2354179"/>
              <a:ext cx="20899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FFFFFF"/>
                  </a:solidFill>
                  <a:latin typeface="+mn-lt"/>
                </a:rPr>
                <a:t>Dia</a:t>
              </a:r>
              <a:r>
                <a:rPr lang="en-US" b="1" dirty="0">
                  <a:solidFill>
                    <a:srgbClr val="FFFFFF"/>
                  </a:solidFill>
                  <a:latin typeface="+mn-lt"/>
                </a:rPr>
                <a:t>-a-</a:t>
              </a:r>
              <a:r>
                <a:rPr lang="en-US" b="1" dirty="0" err="1">
                  <a:solidFill>
                    <a:srgbClr val="FFFFFF"/>
                  </a:solidFill>
                  <a:latin typeface="+mn-lt"/>
                </a:rPr>
                <a:t>dia</a:t>
              </a:r>
              <a:endParaRPr lang="en-US" b="1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56" name="Oval 39"/>
            <p:cNvSpPr/>
            <p:nvPr/>
          </p:nvSpPr>
          <p:spPr>
            <a:xfrm>
              <a:off x="1223963" y="2081213"/>
              <a:ext cx="355434" cy="28098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b="1" dirty="0">
                  <a:solidFill>
                    <a:schemeClr val="bg2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077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441CE3-FCD2-3640-854C-DE64A1F0775E}"/>
              </a:ext>
            </a:extLst>
          </p:cNvPr>
          <p:cNvSpPr txBox="1"/>
          <p:nvPr/>
        </p:nvSpPr>
        <p:spPr>
          <a:xfrm>
            <a:off x="0" y="6359759"/>
            <a:ext cx="952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sz="2400" b="1" dirty="0">
                <a:solidFill>
                  <a:schemeClr val="bg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98194F-428D-6243-BE8A-B307366EAD25}"/>
              </a:ext>
            </a:extLst>
          </p:cNvPr>
          <p:cNvSpPr txBox="1"/>
          <p:nvPr/>
        </p:nvSpPr>
        <p:spPr>
          <a:xfrm>
            <a:off x="491616" y="187135"/>
            <a:ext cx="8405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dirty="0">
                <a:solidFill>
                  <a:srgbClr val="1D2E4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  <a:endParaRPr lang="pt-BR" sz="3200" b="1" dirty="0">
              <a:solidFill>
                <a:srgbClr val="1D2E41"/>
              </a:solidFill>
              <a:latin typeface="Calibri" panose="020B0606030504020204" pitchFamily="34" charset="0"/>
              <a:ea typeface="Calibri" panose="020B0606030504020204" pitchFamily="34" charset="0"/>
              <a:cs typeface="Calibri" panose="020B0606030504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F75145-94AC-3ED6-1F28-391CC9935C4E}"/>
              </a:ext>
            </a:extLst>
          </p:cNvPr>
          <p:cNvSpPr txBox="1"/>
          <p:nvPr/>
        </p:nvSpPr>
        <p:spPr>
          <a:xfrm>
            <a:off x="7922458" y="2177137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Variedade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EBB185-E463-20BA-B674-FC1967DD4753}"/>
              </a:ext>
            </a:extLst>
          </p:cNvPr>
          <p:cNvSpPr txBox="1"/>
          <p:nvPr/>
        </p:nvSpPr>
        <p:spPr>
          <a:xfrm>
            <a:off x="3595334" y="2156673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pt-BR" b="1" dirty="0"/>
              <a:t>Velocidade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6F7D451-E2B6-3163-AA57-BCE6EC28E2AE}"/>
              </a:ext>
            </a:extLst>
          </p:cNvPr>
          <p:cNvCxnSpPr/>
          <p:nvPr/>
        </p:nvCxnSpPr>
        <p:spPr>
          <a:xfrm flipH="1" flipV="1">
            <a:off x="4605379" y="2789014"/>
            <a:ext cx="1791493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114ED8D-DDBE-6C2E-E56B-57BEE0085A39}"/>
              </a:ext>
            </a:extLst>
          </p:cNvPr>
          <p:cNvCxnSpPr/>
          <p:nvPr/>
        </p:nvCxnSpPr>
        <p:spPr>
          <a:xfrm>
            <a:off x="5482472" y="2313449"/>
            <a:ext cx="2210592" cy="13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9DA19A-27CD-449A-4601-797BCAE8DFFA}"/>
              </a:ext>
            </a:extLst>
          </p:cNvPr>
          <p:cNvCxnSpPr/>
          <p:nvPr/>
        </p:nvCxnSpPr>
        <p:spPr>
          <a:xfrm flipH="1">
            <a:off x="6701672" y="2865214"/>
            <a:ext cx="1789907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D95B83-4A4A-38F9-B347-55E21513849A}"/>
              </a:ext>
            </a:extLst>
          </p:cNvPr>
          <p:cNvSpPr txBox="1"/>
          <p:nvPr/>
        </p:nvSpPr>
        <p:spPr>
          <a:xfrm>
            <a:off x="5635664" y="4389214"/>
            <a:ext cx="18280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Volume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CD06A3B-E149-70C6-40C6-20C3DEF5B54F}"/>
              </a:ext>
            </a:extLst>
          </p:cNvPr>
          <p:cNvGrpSpPr/>
          <p:nvPr/>
        </p:nvGrpSpPr>
        <p:grpSpPr>
          <a:xfrm>
            <a:off x="2778464" y="3378409"/>
            <a:ext cx="2672671" cy="1846179"/>
            <a:chOff x="152400" y="3581400"/>
            <a:chExt cx="3466416" cy="2472154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598B2BBA-EBE8-53D9-AE5E-0831B7DF404C}"/>
                </a:ext>
              </a:extLst>
            </p:cNvPr>
            <p:cNvGrpSpPr/>
            <p:nvPr/>
          </p:nvGrpSpPr>
          <p:grpSpPr>
            <a:xfrm>
              <a:off x="152400" y="3581400"/>
              <a:ext cx="3466416" cy="2413118"/>
              <a:chOff x="152400" y="3581400"/>
              <a:chExt cx="3466416" cy="2413118"/>
            </a:xfrm>
          </p:grpSpPr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A74B815-706B-7FFE-F95F-F83B2C2846C1}"/>
                  </a:ext>
                </a:extLst>
              </p:cNvPr>
              <p:cNvGrpSpPr/>
              <p:nvPr/>
            </p:nvGrpSpPr>
            <p:grpSpPr>
              <a:xfrm>
                <a:off x="152400" y="3581400"/>
                <a:ext cx="3466416" cy="2413118"/>
                <a:chOff x="152400" y="3581400"/>
                <a:chExt cx="3466416" cy="2413118"/>
              </a:xfrm>
            </p:grpSpPr>
            <p:graphicFrame>
              <p:nvGraphicFramePr>
                <p:cNvPr id="20" name="Chart 81">
                  <a:extLst>
                    <a:ext uri="{FF2B5EF4-FFF2-40B4-BE49-F238E27FC236}">
                      <a16:creationId xmlns:a16="http://schemas.microsoft.com/office/drawing/2014/main" id="{BEAAC23E-FCE1-AC7B-B2D8-15F92C7029A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52400" y="3581400"/>
                <a:ext cx="3466416" cy="241311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FB37374F-E669-096D-5A16-57A744DE683D}"/>
                    </a:ext>
                  </a:extLst>
                </p:cNvPr>
                <p:cNvSpPr/>
                <p:nvPr/>
              </p:nvSpPr>
              <p:spPr>
                <a:xfrm>
                  <a:off x="2046507" y="4343400"/>
                  <a:ext cx="837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600" b="1" dirty="0">
                      <a:solidFill>
                        <a:srgbClr val="003366"/>
                      </a:solidFill>
                      <a:latin typeface="Calibri"/>
                      <a:ea typeface="ＭＳ Ｐゴシック" pitchFamily="34" charset="-128"/>
                      <a:cs typeface="Arial" panose="020B0604020202020204" pitchFamily="34" charset="0"/>
                    </a:rPr>
                    <a:t>Volume</a:t>
                  </a:r>
                  <a:endParaRPr lang="en-US" sz="1600" b="1" dirty="0">
                    <a:solidFill>
                      <a:srgbClr val="003366"/>
                    </a:solidFill>
                    <a:latin typeface="Calibri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9C89CC9-6BDE-5852-7209-EE047A33537A}"/>
                  </a:ext>
                </a:extLst>
              </p:cNvPr>
              <p:cNvSpPr/>
              <p:nvPr/>
            </p:nvSpPr>
            <p:spPr>
              <a:xfrm>
                <a:off x="606796" y="3775400"/>
                <a:ext cx="89248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solidFill>
                      <a:srgbClr val="003366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Big Data</a:t>
                </a:r>
                <a:endParaRPr lang="pt-BR" sz="1600" dirty="0"/>
              </a:p>
            </p:txBody>
          </p:sp>
        </p:grp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0520E8A-C169-360A-9AD4-EEA20A338883}"/>
                </a:ext>
              </a:extLst>
            </p:cNvPr>
            <p:cNvSpPr/>
            <p:nvPr/>
          </p:nvSpPr>
          <p:spPr>
            <a:xfrm>
              <a:off x="2149060" y="5715000"/>
              <a:ext cx="1119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Velocidade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0FB2C7E-267E-0327-455C-CB0F273731B3}"/>
              </a:ext>
            </a:extLst>
          </p:cNvPr>
          <p:cNvGrpSpPr/>
          <p:nvPr/>
        </p:nvGrpSpPr>
        <p:grpSpPr>
          <a:xfrm>
            <a:off x="4910588" y="156646"/>
            <a:ext cx="1984376" cy="1803173"/>
            <a:chOff x="6801481" y="369568"/>
            <a:chExt cx="1984376" cy="1803173"/>
          </a:xfrm>
        </p:grpSpPr>
        <p:pic>
          <p:nvPicPr>
            <p:cNvPr id="23" name="Picture 2" descr="Resultado de imagem para The Economist Technology Quarterly â the rise and plateau of transistor power.">
              <a:extLst>
                <a:ext uri="{FF2B5EF4-FFF2-40B4-BE49-F238E27FC236}">
                  <a16:creationId xmlns:a16="http://schemas.microsoft.com/office/drawing/2014/main" id="{CA86D011-A19C-1061-0A9D-1C2473766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1481" y="762000"/>
              <a:ext cx="1984376" cy="1410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92AD552-6269-8B56-0428-6FFEB6293B05}"/>
                </a:ext>
              </a:extLst>
            </p:cNvPr>
            <p:cNvSpPr/>
            <p:nvPr/>
          </p:nvSpPr>
          <p:spPr>
            <a:xfrm>
              <a:off x="7136101" y="369568"/>
              <a:ext cx="130446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Lei de Moore</a:t>
              </a:r>
              <a:endParaRPr lang="en-US" sz="1600" b="1" baseline="30000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13BDA8-4779-1DDC-394E-BB629F42206F}"/>
              </a:ext>
            </a:extLst>
          </p:cNvPr>
          <p:cNvSpPr txBox="1"/>
          <p:nvPr/>
        </p:nvSpPr>
        <p:spPr>
          <a:xfrm>
            <a:off x="8293107" y="3916142"/>
            <a:ext cx="17914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Inteligência Artificial</a:t>
            </a:r>
          </a:p>
        </p:txBody>
      </p:sp>
      <p:grpSp>
        <p:nvGrpSpPr>
          <p:cNvPr id="25" name="Agrupar 24"/>
          <p:cNvGrpSpPr/>
          <p:nvPr/>
        </p:nvGrpSpPr>
        <p:grpSpPr>
          <a:xfrm>
            <a:off x="8440114" y="4593214"/>
            <a:ext cx="1523774" cy="1263819"/>
            <a:chOff x="8440114" y="4593214"/>
            <a:chExt cx="1523774" cy="1263819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114" y="4593214"/>
              <a:ext cx="1523774" cy="905931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8678541" y="5549256"/>
              <a:ext cx="104691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err="1"/>
                <a:t>LLMs</a:t>
              </a:r>
              <a:endParaRPr lang="pt-BR" sz="1400" b="1" dirty="0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10131457" y="3928069"/>
            <a:ext cx="1631547" cy="1445509"/>
            <a:chOff x="10131457" y="3928069"/>
            <a:chExt cx="1631547" cy="1445509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5653" y="3928069"/>
              <a:ext cx="1383157" cy="922289"/>
            </a:xfrm>
            <a:prstGeom prst="rect">
              <a:avLst/>
            </a:prstGeom>
          </p:spPr>
        </p:pic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131457" y="4850358"/>
              <a:ext cx="163154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Reconhecimento de Imagens</a:t>
              </a:r>
            </a:p>
          </p:txBody>
        </p:sp>
      </p:grpSp>
      <p:grpSp>
        <p:nvGrpSpPr>
          <p:cNvPr id="27" name="Agrupar 26"/>
          <p:cNvGrpSpPr/>
          <p:nvPr/>
        </p:nvGrpSpPr>
        <p:grpSpPr>
          <a:xfrm>
            <a:off x="10137055" y="5471132"/>
            <a:ext cx="1620354" cy="1117954"/>
            <a:chOff x="10137055" y="5471132"/>
            <a:chExt cx="1620354" cy="1117954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055" y="5471132"/>
              <a:ext cx="1620354" cy="810177"/>
            </a:xfrm>
            <a:prstGeom prst="rect">
              <a:avLst/>
            </a:prstGeom>
          </p:spPr>
        </p:pic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441769" y="6281309"/>
              <a:ext cx="10109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Robótica</a:t>
              </a:r>
            </a:p>
          </p:txBody>
        </p:sp>
      </p:grpSp>
      <p:pic>
        <p:nvPicPr>
          <p:cNvPr id="31" name="Imagem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406" y="260186"/>
            <a:ext cx="3407231" cy="798824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9406" y="1126861"/>
            <a:ext cx="3415397" cy="792763"/>
          </a:xfrm>
          <a:prstGeom prst="rect">
            <a:avLst/>
          </a:prstGeom>
        </p:spPr>
      </p:pic>
      <p:sp>
        <p:nvSpPr>
          <p:cNvPr id="43" name="Elipse 42"/>
          <p:cNvSpPr/>
          <p:nvPr/>
        </p:nvSpPr>
        <p:spPr>
          <a:xfrm>
            <a:off x="7875267" y="4291201"/>
            <a:ext cx="2566502" cy="1635834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7670455" y="844961"/>
            <a:ext cx="4064345" cy="1288639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de Seta Reta 45"/>
          <p:cNvCxnSpPr>
            <a:stCxn id="44" idx="4"/>
            <a:endCxn id="43" idx="0"/>
          </p:cNvCxnSpPr>
          <p:nvPr/>
        </p:nvCxnSpPr>
        <p:spPr>
          <a:xfrm flipH="1">
            <a:off x="9158518" y="2133600"/>
            <a:ext cx="544110" cy="215760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83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52400" y="76200"/>
            <a:ext cx="11963400" cy="762000"/>
          </a:xfrm>
        </p:spPr>
        <p:txBody>
          <a:bodyPr>
            <a:normAutofit/>
          </a:bodyPr>
          <a:lstStyle/>
          <a:p>
            <a:r>
              <a:rPr lang="pt-BR" sz="2500" dirty="0" err="1"/>
              <a:t>LLMs</a:t>
            </a:r>
            <a:r>
              <a:rPr lang="pt-BR" sz="2500" dirty="0"/>
              <a:t>: Uma </a:t>
            </a:r>
            <a:r>
              <a:rPr lang="pt-BR" sz="2500" dirty="0" err="1"/>
              <a:t>Idéia</a:t>
            </a:r>
            <a:r>
              <a:rPr lang="pt-BR" sz="2500" dirty="0"/>
              <a:t> Simples ...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775200" cy="112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0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52400" y="76200"/>
            <a:ext cx="11963400" cy="762000"/>
          </a:xfrm>
        </p:spPr>
        <p:txBody>
          <a:bodyPr>
            <a:normAutofit/>
          </a:bodyPr>
          <a:lstStyle/>
          <a:p>
            <a:r>
              <a:rPr lang="pt-BR" sz="2500" dirty="0" err="1"/>
              <a:t>LLMs</a:t>
            </a:r>
            <a:r>
              <a:rPr lang="pt-BR" sz="2500" dirty="0"/>
              <a:t>: Uma </a:t>
            </a:r>
            <a:r>
              <a:rPr lang="pt-BR" sz="2500" dirty="0" err="1"/>
              <a:t>Idéia</a:t>
            </a:r>
            <a:r>
              <a:rPr lang="pt-BR" sz="2500" dirty="0"/>
              <a:t> Simples, Um Modelo Complexo, ...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775200" cy="112738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5" y="1965588"/>
            <a:ext cx="5858490" cy="423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6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152400" y="76200"/>
            <a:ext cx="11963400" cy="762000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LLMs</a:t>
            </a:r>
            <a:r>
              <a:rPr lang="pt-BR" dirty="0"/>
              <a:t>: Uma </a:t>
            </a:r>
            <a:r>
              <a:rPr lang="pt-BR" dirty="0" err="1"/>
              <a:t>Idéia</a:t>
            </a:r>
            <a:r>
              <a:rPr lang="pt-BR" dirty="0"/>
              <a:t> Simples, Um Modelo Complexo, Uma Execução ... Quase Impossível!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8200"/>
            <a:ext cx="4775200" cy="1127388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55" y="1965588"/>
            <a:ext cx="5858490" cy="423253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338" y="685800"/>
            <a:ext cx="5312954" cy="1943308"/>
          </a:xfrm>
          <a:prstGeom prst="rect">
            <a:avLst/>
          </a:prstGeom>
        </p:spPr>
      </p:pic>
      <p:pic>
        <p:nvPicPr>
          <p:cNvPr id="12290" name="Picture 2" descr="https://miro.medium.com/v2/resize:fit:1003/1*IaDlHOMavNm-8AV0cAbDY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015" y="2629108"/>
            <a:ext cx="5181600" cy="237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7739279" y="5016999"/>
            <a:ext cx="292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GPT-4: 1T de Parâmetros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629400" y="5403677"/>
            <a:ext cx="533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Cérebro Humano: 86B Neurônios, 7k Sinapses cada ~ 600T de Parâmetros</a:t>
            </a:r>
          </a:p>
        </p:txBody>
      </p:sp>
    </p:spTree>
    <p:extLst>
      <p:ext uri="{BB962C8B-B14F-4D97-AF65-F5344CB8AC3E}">
        <p14:creationId xmlns:p14="http://schemas.microsoft.com/office/powerpoint/2010/main" val="399442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441CE3-FCD2-3640-854C-DE64A1F0775E}"/>
              </a:ext>
            </a:extLst>
          </p:cNvPr>
          <p:cNvSpPr txBox="1"/>
          <p:nvPr/>
        </p:nvSpPr>
        <p:spPr>
          <a:xfrm>
            <a:off x="0" y="6359759"/>
            <a:ext cx="952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pt-BR" sz="2400" b="1" dirty="0">
                <a:solidFill>
                  <a:schemeClr val="bg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98194F-428D-6243-BE8A-B307366EAD25}"/>
              </a:ext>
            </a:extLst>
          </p:cNvPr>
          <p:cNvSpPr txBox="1"/>
          <p:nvPr/>
        </p:nvSpPr>
        <p:spPr>
          <a:xfrm>
            <a:off x="491616" y="187135"/>
            <a:ext cx="8405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dirty="0">
                <a:solidFill>
                  <a:srgbClr val="1D2E41"/>
                </a:solidFill>
                <a:latin typeface="Calibri" panose="020B0606030504020204" pitchFamily="34" charset="0"/>
                <a:ea typeface="Calibri" panose="020B0606030504020204" pitchFamily="34" charset="0"/>
                <a:cs typeface="Calibri" panose="020B0606030504020204" pitchFamily="34" charset="0"/>
              </a:rPr>
              <a:t>Evolução Tecnológica</a:t>
            </a:r>
            <a:endParaRPr lang="pt-BR" sz="3200" b="1" dirty="0">
              <a:solidFill>
                <a:srgbClr val="1D2E41"/>
              </a:solidFill>
              <a:latin typeface="Calibri" panose="020B0606030504020204" pitchFamily="34" charset="0"/>
              <a:ea typeface="Calibri" panose="020B0606030504020204" pitchFamily="34" charset="0"/>
              <a:cs typeface="Calibri" panose="020B0606030504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F75145-94AC-3ED6-1F28-391CC9935C4E}"/>
              </a:ext>
            </a:extLst>
          </p:cNvPr>
          <p:cNvSpPr txBox="1"/>
          <p:nvPr/>
        </p:nvSpPr>
        <p:spPr>
          <a:xfrm>
            <a:off x="7922458" y="2177137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Variedade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BEBB185-E463-20BA-B674-FC1967DD4753}"/>
              </a:ext>
            </a:extLst>
          </p:cNvPr>
          <p:cNvSpPr txBox="1"/>
          <p:nvPr/>
        </p:nvSpPr>
        <p:spPr>
          <a:xfrm>
            <a:off x="3595334" y="2156673"/>
            <a:ext cx="16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pt-BR" b="1" dirty="0"/>
              <a:t>Velocidade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6F7D451-E2B6-3163-AA57-BCE6EC28E2AE}"/>
              </a:ext>
            </a:extLst>
          </p:cNvPr>
          <p:cNvCxnSpPr/>
          <p:nvPr/>
        </p:nvCxnSpPr>
        <p:spPr>
          <a:xfrm flipH="1" flipV="1">
            <a:off x="4605379" y="2789014"/>
            <a:ext cx="1791493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7114ED8D-DDBE-6C2E-E56B-57BEE0085A39}"/>
              </a:ext>
            </a:extLst>
          </p:cNvPr>
          <p:cNvCxnSpPr/>
          <p:nvPr/>
        </p:nvCxnSpPr>
        <p:spPr>
          <a:xfrm>
            <a:off x="5482472" y="2313449"/>
            <a:ext cx="2210592" cy="13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9DA19A-27CD-449A-4601-797BCAE8DFFA}"/>
              </a:ext>
            </a:extLst>
          </p:cNvPr>
          <p:cNvCxnSpPr/>
          <p:nvPr/>
        </p:nvCxnSpPr>
        <p:spPr>
          <a:xfrm flipH="1">
            <a:off x="6701672" y="2865214"/>
            <a:ext cx="1789907" cy="1524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D95B83-4A4A-38F9-B347-55E21513849A}"/>
              </a:ext>
            </a:extLst>
          </p:cNvPr>
          <p:cNvSpPr txBox="1"/>
          <p:nvPr/>
        </p:nvSpPr>
        <p:spPr>
          <a:xfrm>
            <a:off x="5635664" y="4389214"/>
            <a:ext cx="18280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Volume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CD06A3B-E149-70C6-40C6-20C3DEF5B54F}"/>
              </a:ext>
            </a:extLst>
          </p:cNvPr>
          <p:cNvGrpSpPr/>
          <p:nvPr/>
        </p:nvGrpSpPr>
        <p:grpSpPr>
          <a:xfrm>
            <a:off x="2778464" y="3378409"/>
            <a:ext cx="2672671" cy="1846179"/>
            <a:chOff x="152400" y="3581400"/>
            <a:chExt cx="3466416" cy="2472154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598B2BBA-EBE8-53D9-AE5E-0831B7DF404C}"/>
                </a:ext>
              </a:extLst>
            </p:cNvPr>
            <p:cNvGrpSpPr/>
            <p:nvPr/>
          </p:nvGrpSpPr>
          <p:grpSpPr>
            <a:xfrm>
              <a:off x="152400" y="3581400"/>
              <a:ext cx="3466416" cy="2413118"/>
              <a:chOff x="152400" y="3581400"/>
              <a:chExt cx="3466416" cy="2413118"/>
            </a:xfrm>
          </p:grpSpPr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A74B815-706B-7FFE-F95F-F83B2C2846C1}"/>
                  </a:ext>
                </a:extLst>
              </p:cNvPr>
              <p:cNvGrpSpPr/>
              <p:nvPr/>
            </p:nvGrpSpPr>
            <p:grpSpPr>
              <a:xfrm>
                <a:off x="152400" y="3581400"/>
                <a:ext cx="3466416" cy="2413118"/>
                <a:chOff x="152400" y="3581400"/>
                <a:chExt cx="3466416" cy="2413118"/>
              </a:xfrm>
            </p:grpSpPr>
            <p:graphicFrame>
              <p:nvGraphicFramePr>
                <p:cNvPr id="20" name="Chart 81">
                  <a:extLst>
                    <a:ext uri="{FF2B5EF4-FFF2-40B4-BE49-F238E27FC236}">
                      <a16:creationId xmlns:a16="http://schemas.microsoft.com/office/drawing/2014/main" id="{BEAAC23E-FCE1-AC7B-B2D8-15F92C7029AB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152400" y="3581400"/>
                <a:ext cx="3466416" cy="2413118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  <p:sp>
              <p:nvSpPr>
                <p:cNvPr id="21" name="Retângulo 20">
                  <a:extLst>
                    <a:ext uri="{FF2B5EF4-FFF2-40B4-BE49-F238E27FC236}">
                      <a16:creationId xmlns:a16="http://schemas.microsoft.com/office/drawing/2014/main" id="{FB37374F-E669-096D-5A16-57A744DE683D}"/>
                    </a:ext>
                  </a:extLst>
                </p:cNvPr>
                <p:cNvSpPr/>
                <p:nvPr/>
              </p:nvSpPr>
              <p:spPr>
                <a:xfrm>
                  <a:off x="2046507" y="4343400"/>
                  <a:ext cx="837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1600" b="1" dirty="0">
                      <a:solidFill>
                        <a:srgbClr val="003366"/>
                      </a:solidFill>
                      <a:latin typeface="Calibri"/>
                      <a:ea typeface="ＭＳ Ｐゴシック" pitchFamily="34" charset="-128"/>
                      <a:cs typeface="Arial" panose="020B0604020202020204" pitchFamily="34" charset="0"/>
                    </a:rPr>
                    <a:t>Volume</a:t>
                  </a:r>
                  <a:endParaRPr lang="en-US" sz="1600" b="1" dirty="0">
                    <a:solidFill>
                      <a:srgbClr val="003366"/>
                    </a:solidFill>
                    <a:latin typeface="Calibri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9C89CC9-6BDE-5852-7209-EE047A33537A}"/>
                  </a:ext>
                </a:extLst>
              </p:cNvPr>
              <p:cNvSpPr/>
              <p:nvPr/>
            </p:nvSpPr>
            <p:spPr>
              <a:xfrm>
                <a:off x="606796" y="3775400"/>
                <a:ext cx="89248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1" dirty="0">
                    <a:solidFill>
                      <a:srgbClr val="003366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Big Data</a:t>
                </a:r>
                <a:endParaRPr lang="pt-BR" sz="1600" dirty="0"/>
              </a:p>
            </p:txBody>
          </p:sp>
        </p:grp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0520E8A-C169-360A-9AD4-EEA20A338883}"/>
                </a:ext>
              </a:extLst>
            </p:cNvPr>
            <p:cNvSpPr/>
            <p:nvPr/>
          </p:nvSpPr>
          <p:spPr>
            <a:xfrm>
              <a:off x="2149060" y="5715000"/>
              <a:ext cx="111992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Velocidade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20FB2C7E-267E-0327-455C-CB0F273731B3}"/>
              </a:ext>
            </a:extLst>
          </p:cNvPr>
          <p:cNvGrpSpPr/>
          <p:nvPr/>
        </p:nvGrpSpPr>
        <p:grpSpPr>
          <a:xfrm>
            <a:off x="4910588" y="156646"/>
            <a:ext cx="1984376" cy="1803173"/>
            <a:chOff x="6801481" y="369568"/>
            <a:chExt cx="1984376" cy="1803173"/>
          </a:xfrm>
        </p:grpSpPr>
        <p:pic>
          <p:nvPicPr>
            <p:cNvPr id="23" name="Picture 2" descr="Resultado de imagem para The Economist Technology Quarterly â the rise and plateau of transistor power.">
              <a:extLst>
                <a:ext uri="{FF2B5EF4-FFF2-40B4-BE49-F238E27FC236}">
                  <a16:creationId xmlns:a16="http://schemas.microsoft.com/office/drawing/2014/main" id="{CA86D011-A19C-1061-0A9D-1C2473766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1481" y="762000"/>
              <a:ext cx="1984376" cy="1410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992AD552-6269-8B56-0428-6FFEB6293B05}"/>
                </a:ext>
              </a:extLst>
            </p:cNvPr>
            <p:cNvSpPr/>
            <p:nvPr/>
          </p:nvSpPr>
          <p:spPr>
            <a:xfrm>
              <a:off x="7136101" y="369568"/>
              <a:ext cx="130446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Lei de Moore</a:t>
              </a:r>
              <a:endParaRPr lang="en-US" sz="1600" b="1" baseline="30000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C13BDA8-4779-1DDC-394E-BB629F42206F}"/>
              </a:ext>
            </a:extLst>
          </p:cNvPr>
          <p:cNvSpPr txBox="1"/>
          <p:nvPr/>
        </p:nvSpPr>
        <p:spPr>
          <a:xfrm>
            <a:off x="8293107" y="3916142"/>
            <a:ext cx="17914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Inteligência Artificial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9C89CC9-6BDE-5852-7209-EE047A33537A}"/>
              </a:ext>
            </a:extLst>
          </p:cNvPr>
          <p:cNvSpPr/>
          <p:nvPr/>
        </p:nvSpPr>
        <p:spPr>
          <a:xfrm>
            <a:off x="5816725" y="5291446"/>
            <a:ext cx="24890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Aplicações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consumindo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cada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vez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mais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dados…</a:t>
            </a:r>
            <a:endParaRPr lang="pt-BR" sz="1600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9C89CC9-6BDE-5852-7209-EE047A33537A}"/>
              </a:ext>
            </a:extLst>
          </p:cNvPr>
          <p:cNvSpPr/>
          <p:nvPr/>
        </p:nvSpPr>
        <p:spPr>
          <a:xfrm>
            <a:off x="557209" y="906959"/>
            <a:ext cx="25716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…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tornarão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Lei de Moore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cada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vez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mais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“</a:t>
            </a:r>
            <a:r>
              <a:rPr lang="en-US" sz="16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cara</a:t>
            </a:r>
            <a:r>
              <a:rPr lang="en-US" sz="16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”</a:t>
            </a:r>
            <a:endParaRPr lang="pt-BR" sz="1600" dirty="0"/>
          </a:p>
        </p:txBody>
      </p:sp>
      <p:grpSp>
        <p:nvGrpSpPr>
          <p:cNvPr id="35" name="Agrupar 34"/>
          <p:cNvGrpSpPr/>
          <p:nvPr/>
        </p:nvGrpSpPr>
        <p:grpSpPr>
          <a:xfrm>
            <a:off x="415416" y="1828800"/>
            <a:ext cx="1105749" cy="924458"/>
            <a:chOff x="415416" y="1828800"/>
            <a:chExt cx="1105749" cy="924458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416" y="1828800"/>
              <a:ext cx="1105749" cy="621507"/>
            </a:xfrm>
            <a:prstGeom prst="rect">
              <a:avLst/>
            </a:prstGeom>
          </p:spPr>
        </p:pic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FB37374F-E669-096D-5A16-57A744DE683D}"/>
                </a:ext>
              </a:extLst>
            </p:cNvPr>
            <p:cNvSpPr/>
            <p:nvPr/>
          </p:nvSpPr>
          <p:spPr>
            <a:xfrm>
              <a:off x="452411" y="2414704"/>
              <a:ext cx="103175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Symbol" panose="05050102010706020507" pitchFamily="18" charset="2"/>
                  <a:ea typeface="ＭＳ Ｐゴシック" pitchFamily="34" charset="-128"/>
                  <a:cs typeface="Arial" panose="020B0604020202020204" pitchFamily="34" charset="0"/>
                </a:rPr>
                <a:t>m</a:t>
              </a:r>
              <a:r>
                <a:rPr lang="en-US" sz="1600" b="1" dirty="0" err="1">
                  <a:solidFill>
                    <a:srgbClr val="003366"/>
                  </a:solidFill>
                  <a:latin typeface="Calibri"/>
                  <a:ea typeface="ＭＳ Ｐゴシック" pitchFamily="34" charset="-128"/>
                  <a:cs typeface="Arial" panose="020B0604020202020204" pitchFamily="34" charset="0"/>
                </a:rPr>
                <a:t>Fotônica</a:t>
              </a:r>
              <a:endParaRPr lang="en-US" sz="1600" b="1" dirty="0">
                <a:solidFill>
                  <a:srgbClr val="003366"/>
                </a:solidFill>
                <a:latin typeface="Calibri"/>
                <a:cs typeface="Arial" panose="020B0604020202020204" pitchFamily="34" charset="0"/>
              </a:endParaRPr>
            </a:p>
          </p:txBody>
        </p:sp>
      </p:grpSp>
      <p:grpSp>
        <p:nvGrpSpPr>
          <p:cNvPr id="36" name="Agrupar 35"/>
          <p:cNvGrpSpPr/>
          <p:nvPr/>
        </p:nvGrpSpPr>
        <p:grpSpPr>
          <a:xfrm>
            <a:off x="2094948" y="2125558"/>
            <a:ext cx="953237" cy="1002010"/>
            <a:chOff x="2094948" y="2125558"/>
            <a:chExt cx="953237" cy="1002010"/>
          </a:xfrm>
        </p:grpSpPr>
        <p:pic>
          <p:nvPicPr>
            <p:cNvPr id="32" name="Imagem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4948" y="2125558"/>
              <a:ext cx="953237" cy="635491"/>
            </a:xfrm>
            <a:prstGeom prst="rect">
              <a:avLst/>
            </a:prstGeom>
          </p:spPr>
        </p:pic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FB37374F-E669-096D-5A16-57A744DE683D}"/>
                </a:ext>
              </a:extLst>
            </p:cNvPr>
            <p:cNvSpPr/>
            <p:nvPr/>
          </p:nvSpPr>
          <p:spPr>
            <a:xfrm>
              <a:off x="2130883" y="2789014"/>
              <a:ext cx="87120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b="1" dirty="0" err="1">
                  <a:solidFill>
                    <a:srgbClr val="003366"/>
                  </a:solidFill>
                  <a:latin typeface="+mn-lt"/>
                  <a:ea typeface="ＭＳ Ｐゴシック" pitchFamily="34" charset="-128"/>
                  <a:cs typeface="Arial" panose="020B0604020202020204" pitchFamily="34" charset="0"/>
                </a:rPr>
                <a:t>Grafeno</a:t>
              </a:r>
              <a:endParaRPr lang="en-US" sz="1600" b="1" dirty="0">
                <a:solidFill>
                  <a:srgbClr val="003366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2" name="Agrupar 1"/>
          <p:cNvGrpSpPr/>
          <p:nvPr/>
        </p:nvGrpSpPr>
        <p:grpSpPr>
          <a:xfrm>
            <a:off x="527588" y="2874891"/>
            <a:ext cx="1557169" cy="1264612"/>
            <a:chOff x="458996" y="3369045"/>
            <a:chExt cx="1557169" cy="1264612"/>
          </a:xfrm>
        </p:grpSpPr>
        <p:pic>
          <p:nvPicPr>
            <p:cNvPr id="37" name="Imagem 3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939" y="3369045"/>
              <a:ext cx="1263315" cy="710614"/>
            </a:xfrm>
            <a:prstGeom prst="rect">
              <a:avLst/>
            </a:prstGeom>
          </p:spPr>
        </p:pic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59C89CC9-6BDE-5852-7209-EE047A33537A}"/>
                </a:ext>
              </a:extLst>
            </p:cNvPr>
            <p:cNvSpPr/>
            <p:nvPr/>
          </p:nvSpPr>
          <p:spPr>
            <a:xfrm>
              <a:off x="458996" y="4079659"/>
              <a:ext cx="1557169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Uma </a:t>
              </a:r>
              <a:r>
                <a:rPr lang="en-US" sz="1500" b="1" dirty="0" err="1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alternativa</a:t>
              </a:r>
              <a:r>
                <a:rPr lang="en-US" sz="1500" b="1" dirty="0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“fora da </a:t>
              </a:r>
              <a:r>
                <a:rPr lang="en-US" sz="1500" b="1" dirty="0" err="1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caixa</a:t>
              </a:r>
              <a:r>
                <a:rPr lang="en-US" sz="1500" b="1" dirty="0">
                  <a:solidFill>
                    <a:srgbClr val="003366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”</a:t>
              </a:r>
              <a:endParaRPr lang="pt-BR" sz="1500" dirty="0"/>
            </a:p>
          </p:txBody>
        </p:sp>
      </p:grpSp>
      <p:grpSp>
        <p:nvGrpSpPr>
          <p:cNvPr id="25" name="Agrupar 24"/>
          <p:cNvGrpSpPr/>
          <p:nvPr/>
        </p:nvGrpSpPr>
        <p:grpSpPr>
          <a:xfrm>
            <a:off x="8440114" y="4593214"/>
            <a:ext cx="1523774" cy="1263819"/>
            <a:chOff x="8440114" y="4593214"/>
            <a:chExt cx="1523774" cy="1263819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114" y="4593214"/>
              <a:ext cx="1523774" cy="905931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8678541" y="5549256"/>
              <a:ext cx="104691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 err="1"/>
                <a:t>LLMs</a:t>
              </a:r>
              <a:endParaRPr lang="pt-BR" sz="1400" b="1" dirty="0"/>
            </a:p>
          </p:txBody>
        </p:sp>
      </p:grpSp>
      <p:grpSp>
        <p:nvGrpSpPr>
          <p:cNvPr id="26" name="Agrupar 25"/>
          <p:cNvGrpSpPr/>
          <p:nvPr/>
        </p:nvGrpSpPr>
        <p:grpSpPr>
          <a:xfrm>
            <a:off x="10131457" y="3928069"/>
            <a:ext cx="1631547" cy="1445509"/>
            <a:chOff x="10131457" y="3928069"/>
            <a:chExt cx="1631547" cy="1445509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5653" y="3928069"/>
              <a:ext cx="1383157" cy="922289"/>
            </a:xfrm>
            <a:prstGeom prst="rect">
              <a:avLst/>
            </a:prstGeom>
          </p:spPr>
        </p:pic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131457" y="4850358"/>
              <a:ext cx="1631547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Reconhecimento de Imagens</a:t>
              </a:r>
            </a:p>
          </p:txBody>
        </p:sp>
      </p:grpSp>
      <p:grpSp>
        <p:nvGrpSpPr>
          <p:cNvPr id="27" name="Agrupar 26"/>
          <p:cNvGrpSpPr/>
          <p:nvPr/>
        </p:nvGrpSpPr>
        <p:grpSpPr>
          <a:xfrm>
            <a:off x="10137055" y="5471132"/>
            <a:ext cx="1620354" cy="1117954"/>
            <a:chOff x="10137055" y="5471132"/>
            <a:chExt cx="1620354" cy="1117954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7055" y="5471132"/>
              <a:ext cx="1620354" cy="810177"/>
            </a:xfrm>
            <a:prstGeom prst="rect">
              <a:avLst/>
            </a:prstGeom>
          </p:spPr>
        </p:pic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C13BDA8-4779-1DDC-394E-BB629F42206F}"/>
                </a:ext>
              </a:extLst>
            </p:cNvPr>
            <p:cNvSpPr txBox="1"/>
            <p:nvPr/>
          </p:nvSpPr>
          <p:spPr>
            <a:xfrm>
              <a:off x="10441769" y="6281309"/>
              <a:ext cx="101092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Robótica</a:t>
              </a:r>
            </a:p>
          </p:txBody>
        </p:sp>
      </p:grpSp>
      <p:pic>
        <p:nvPicPr>
          <p:cNvPr id="31" name="Imagem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9406" y="260186"/>
            <a:ext cx="3407231" cy="798824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9406" y="1126861"/>
            <a:ext cx="3415397" cy="792763"/>
          </a:xfrm>
          <a:prstGeom prst="rect">
            <a:avLst/>
          </a:prstGeom>
        </p:spPr>
      </p:pic>
      <p:sp>
        <p:nvSpPr>
          <p:cNvPr id="43" name="Elipse 42"/>
          <p:cNvSpPr/>
          <p:nvPr/>
        </p:nvSpPr>
        <p:spPr>
          <a:xfrm>
            <a:off x="7875267" y="4291201"/>
            <a:ext cx="2566502" cy="1635834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7670455" y="844961"/>
            <a:ext cx="4064345" cy="1288639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de Seta Reta 45"/>
          <p:cNvCxnSpPr>
            <a:stCxn id="44" idx="4"/>
            <a:endCxn id="43" idx="0"/>
          </p:cNvCxnSpPr>
          <p:nvPr/>
        </p:nvCxnSpPr>
        <p:spPr>
          <a:xfrm flipH="1">
            <a:off x="9158518" y="2133600"/>
            <a:ext cx="544110" cy="215760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>
            <a:stCxn id="43" idx="1"/>
            <a:endCxn id="50" idx="3"/>
          </p:cNvCxnSpPr>
          <p:nvPr/>
        </p:nvCxnSpPr>
        <p:spPr>
          <a:xfrm flipH="1" flipV="1">
            <a:off x="6411302" y="1202027"/>
            <a:ext cx="1839821" cy="332873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5405899" y="417197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53" name="Conector de Seta Reta 52"/>
          <p:cNvCxnSpPr>
            <a:stCxn id="55" idx="7"/>
            <a:endCxn id="50" idx="1"/>
          </p:cNvCxnSpPr>
          <p:nvPr/>
        </p:nvCxnSpPr>
        <p:spPr>
          <a:xfrm flipV="1">
            <a:off x="2037195" y="1202027"/>
            <a:ext cx="3368704" cy="165525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/>
        </p:nvSpPr>
        <p:spPr>
          <a:xfrm>
            <a:off x="219738" y="2617723"/>
            <a:ext cx="2129283" cy="1635834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de Seta Reta 62"/>
          <p:cNvCxnSpPr>
            <a:stCxn id="43" idx="2"/>
            <a:endCxn id="55" idx="6"/>
          </p:cNvCxnSpPr>
          <p:nvPr/>
        </p:nvCxnSpPr>
        <p:spPr>
          <a:xfrm flipH="1" flipV="1">
            <a:off x="2349021" y="3435640"/>
            <a:ext cx="5526246" cy="167347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30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50" grpId="0"/>
      <p:bldP spid="50" grpId="1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pic>
        <p:nvPicPr>
          <p:cNvPr id="11266" name="Picture 2" descr="https://m.media-amazon.com/images/I/61jHotVAzmL._SL1180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99" y="838196"/>
            <a:ext cx="3297853" cy="517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https://m.media-amazon.com/images/I/71zJlN985cL._SL1500_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273" y="838197"/>
            <a:ext cx="3297853" cy="517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m.media-amazon.com/images/I/613X-AikjoL._SL1246_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148" y="842679"/>
            <a:ext cx="3297852" cy="517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406399" y="6172200"/>
            <a:ext cx="8071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https://github.com/gustavomirapalheta/Quantum-Computing-with-Qiskit</a:t>
            </a:r>
          </a:p>
        </p:txBody>
      </p:sp>
    </p:spTree>
    <p:extLst>
      <p:ext uri="{BB962C8B-B14F-4D97-AF65-F5344CB8AC3E}">
        <p14:creationId xmlns:p14="http://schemas.microsoft.com/office/powerpoint/2010/main" val="90206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Tecnologias Emergentes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Quantum </a:t>
            </a:r>
            <a:r>
              <a:rPr lang="pt-BR" b="1" dirty="0" err="1"/>
              <a:t>Machine</a:t>
            </a:r>
            <a:r>
              <a:rPr lang="pt-BR" b="1" dirty="0"/>
              <a:t> </a:t>
            </a:r>
            <a:r>
              <a:rPr lang="pt-BR" dirty="0"/>
              <a:t>Learning: Conceitos, Tendências, Negócios</a:t>
            </a:r>
          </a:p>
        </p:txBody>
      </p:sp>
    </p:spTree>
    <p:extLst>
      <p:ext uri="{BB962C8B-B14F-4D97-AF65-F5344CB8AC3E}">
        <p14:creationId xmlns:p14="http://schemas.microsoft.com/office/powerpoint/2010/main" val="2787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Mecânica Quântica: A Descrição do Mundo </a:t>
            </a:r>
            <a:r>
              <a:rPr lang="pt-BR" dirty="0" err="1"/>
              <a:t>Muuuuuuuito</a:t>
            </a:r>
            <a:r>
              <a:rPr lang="pt-BR" dirty="0"/>
              <a:t> Pequeno</a:t>
            </a:r>
          </a:p>
        </p:txBody>
      </p:sp>
      <p:sp>
        <p:nvSpPr>
          <p:cNvPr id="8" name="Retângulo 7"/>
          <p:cNvSpPr/>
          <p:nvPr/>
        </p:nvSpPr>
        <p:spPr>
          <a:xfrm>
            <a:off x="1600200" y="5562600"/>
            <a:ext cx="8780282" cy="522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863890"/>
            <a:ext cx="6797613" cy="267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6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1ª Diferença: Estado Definido </a:t>
            </a:r>
            <a:r>
              <a:rPr lang="pt-BR" dirty="0" err="1"/>
              <a:t>vs</a:t>
            </a:r>
            <a:r>
              <a:rPr lang="pt-BR" dirty="0"/>
              <a:t> Estado Intermediário: Sobreposição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762000"/>
            <a:ext cx="8780282" cy="5323046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600200" y="5562600"/>
            <a:ext cx="8780282" cy="522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3" name="Agrupar 22"/>
          <p:cNvGrpSpPr/>
          <p:nvPr/>
        </p:nvGrpSpPr>
        <p:grpSpPr>
          <a:xfrm>
            <a:off x="8305800" y="926068"/>
            <a:ext cx="2980368" cy="2045732"/>
            <a:chOff x="8305800" y="926068"/>
            <a:chExt cx="2980368" cy="2045732"/>
          </a:xfrm>
        </p:grpSpPr>
        <p:cxnSp>
          <p:nvCxnSpPr>
            <p:cNvPr id="4" name="Conector de Seta Reta 3"/>
            <p:cNvCxnSpPr>
              <a:stCxn id="12" idx="2"/>
            </p:cNvCxnSpPr>
            <p:nvPr/>
          </p:nvCxnSpPr>
          <p:spPr>
            <a:xfrm flipH="1">
              <a:off x="8839200" y="1295400"/>
              <a:ext cx="956784" cy="1676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/>
            <p:cNvCxnSpPr>
              <a:stCxn id="12" idx="2"/>
            </p:cNvCxnSpPr>
            <p:nvPr/>
          </p:nvCxnSpPr>
          <p:spPr>
            <a:xfrm flipH="1">
              <a:off x="9601200" y="1295400"/>
              <a:ext cx="194784" cy="16764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/>
            <p:cNvSpPr txBox="1"/>
            <p:nvPr/>
          </p:nvSpPr>
          <p:spPr>
            <a:xfrm>
              <a:off x="8305800" y="926068"/>
              <a:ext cx="2980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Valores NÃO observáveis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8534400" y="3276600"/>
            <a:ext cx="2403287" cy="1820023"/>
            <a:chOff x="8534400" y="3276600"/>
            <a:chExt cx="2403287" cy="1820023"/>
          </a:xfrm>
        </p:grpSpPr>
        <p:cxnSp>
          <p:nvCxnSpPr>
            <p:cNvPr id="15" name="Conector de Seta Reta 14"/>
            <p:cNvCxnSpPr>
              <a:stCxn id="17" idx="0"/>
            </p:cNvCxnSpPr>
            <p:nvPr/>
          </p:nvCxnSpPr>
          <p:spPr>
            <a:xfrm flipH="1" flipV="1">
              <a:off x="9067800" y="3276600"/>
              <a:ext cx="668244" cy="14506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>
              <a:stCxn id="17" idx="0"/>
            </p:cNvCxnSpPr>
            <p:nvPr/>
          </p:nvCxnSpPr>
          <p:spPr>
            <a:xfrm flipV="1">
              <a:off x="9736044" y="3276600"/>
              <a:ext cx="59940" cy="14506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aixaDeTexto 16"/>
            <p:cNvSpPr txBox="1"/>
            <p:nvPr/>
          </p:nvSpPr>
          <p:spPr>
            <a:xfrm>
              <a:off x="8534400" y="4727291"/>
              <a:ext cx="24032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/>
                <a:t>Valores observáveis</a:t>
              </a:r>
            </a:p>
          </p:txBody>
        </p:sp>
      </p:grpSp>
      <p:sp>
        <p:nvSpPr>
          <p:cNvPr id="22" name="CaixaDeTexto 21"/>
          <p:cNvSpPr txBox="1"/>
          <p:nvPr/>
        </p:nvSpPr>
        <p:spPr>
          <a:xfrm>
            <a:off x="3505200" y="509647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mundo dos </a:t>
            </a:r>
            <a:r>
              <a:rPr lang="pt-BR" dirty="0" err="1"/>
              <a:t>Qubits</a:t>
            </a:r>
            <a:r>
              <a:rPr lang="pt-BR" dirty="0"/>
              <a:t>, as amplitudes </a:t>
            </a:r>
            <a:r>
              <a:rPr lang="pt-BR" dirty="0">
                <a:latin typeface="Symbol" panose="05050102010706020507" pitchFamily="18" charset="2"/>
              </a:rPr>
              <a:t>a</a:t>
            </a:r>
            <a:r>
              <a:rPr lang="pt-BR" dirty="0"/>
              <a:t> e </a:t>
            </a:r>
            <a:r>
              <a:rPr lang="pt-BR" dirty="0">
                <a:latin typeface="Symbol" panose="05050102010706020507" pitchFamily="18" charset="2"/>
              </a:rPr>
              <a:t>b</a:t>
            </a:r>
            <a:r>
              <a:rPr lang="pt-BR" dirty="0"/>
              <a:t> influenciam a probabilidade de se obter um estado </a:t>
            </a:r>
            <a:r>
              <a:rPr lang="pt-BR" b="1" dirty="0"/>
              <a:t>|0&gt;</a:t>
            </a:r>
            <a:r>
              <a:rPr lang="pt-BR" dirty="0"/>
              <a:t> ou </a:t>
            </a:r>
            <a:r>
              <a:rPr lang="pt-BR" b="1" dirty="0"/>
              <a:t>|1&gt;</a:t>
            </a:r>
            <a:r>
              <a:rPr lang="pt-BR" dirty="0"/>
              <a:t> como resultado de uma medida</a:t>
            </a:r>
          </a:p>
        </p:txBody>
      </p:sp>
    </p:spTree>
    <p:extLst>
      <p:ext uri="{BB962C8B-B14F-4D97-AF65-F5344CB8AC3E}">
        <p14:creationId xmlns:p14="http://schemas.microsoft.com/office/powerpoint/2010/main" val="46882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Diferença: Os Estados Intermediários se Multiplicam: Entrelaçamento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687" y="1081087"/>
            <a:ext cx="6524625" cy="4695825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458200" y="914400"/>
            <a:ext cx="900112" cy="517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356605" y="1219200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|00&gt;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356605" y="2510135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|01&gt;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356605" y="3805535"/>
            <a:ext cx="78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|10&gt;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8356605" y="5100935"/>
            <a:ext cx="764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|11&gt;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4419600" y="812074"/>
            <a:ext cx="3335383" cy="4519693"/>
            <a:chOff x="4419600" y="812074"/>
            <a:chExt cx="3335383" cy="4519693"/>
          </a:xfrm>
        </p:grpSpPr>
        <p:cxnSp>
          <p:nvCxnSpPr>
            <p:cNvPr id="9" name="Conector de Seta Reta 8"/>
            <p:cNvCxnSpPr>
              <a:stCxn id="11" idx="3"/>
            </p:cNvCxnSpPr>
            <p:nvPr/>
          </p:nvCxnSpPr>
          <p:spPr>
            <a:xfrm>
              <a:off x="6248400" y="1135240"/>
              <a:ext cx="1447800" cy="1531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/>
            <p:cNvCxnSpPr>
              <a:stCxn id="11" idx="3"/>
            </p:cNvCxnSpPr>
            <p:nvPr/>
          </p:nvCxnSpPr>
          <p:spPr>
            <a:xfrm>
              <a:off x="6248400" y="1135240"/>
              <a:ext cx="1371600" cy="3231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/>
            <p:cNvSpPr txBox="1"/>
            <p:nvPr/>
          </p:nvSpPr>
          <p:spPr>
            <a:xfrm>
              <a:off x="4419600" y="812074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Valores NÃO observáveis</a:t>
              </a:r>
            </a:p>
          </p:txBody>
        </p:sp>
        <p:cxnSp>
          <p:nvCxnSpPr>
            <p:cNvPr id="20" name="Conector de Seta Reta 19"/>
            <p:cNvCxnSpPr>
              <a:stCxn id="11" idx="3"/>
            </p:cNvCxnSpPr>
            <p:nvPr/>
          </p:nvCxnSpPr>
          <p:spPr>
            <a:xfrm>
              <a:off x="6248400" y="1135240"/>
              <a:ext cx="1493520" cy="29055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/>
            <p:cNvCxnSpPr>
              <a:stCxn id="11" idx="3"/>
            </p:cNvCxnSpPr>
            <p:nvPr/>
          </p:nvCxnSpPr>
          <p:spPr>
            <a:xfrm>
              <a:off x="6248400" y="1135240"/>
              <a:ext cx="1506583" cy="4196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Agrupar 40"/>
          <p:cNvGrpSpPr/>
          <p:nvPr/>
        </p:nvGrpSpPr>
        <p:grpSpPr>
          <a:xfrm>
            <a:off x="8738889" y="1450033"/>
            <a:ext cx="2945112" cy="3650902"/>
            <a:chOff x="8738889" y="1450033"/>
            <a:chExt cx="2945112" cy="3650902"/>
          </a:xfrm>
        </p:grpSpPr>
        <p:cxnSp>
          <p:nvCxnSpPr>
            <p:cNvPr id="12" name="Conector de Seta Reta 11"/>
            <p:cNvCxnSpPr>
              <a:stCxn id="14" idx="1"/>
              <a:endCxn id="6" idx="3"/>
            </p:cNvCxnSpPr>
            <p:nvPr/>
          </p:nvCxnSpPr>
          <p:spPr>
            <a:xfrm flipH="1" flipV="1">
              <a:off x="9144000" y="2740968"/>
              <a:ext cx="930593" cy="735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14" idx="1"/>
              <a:endCxn id="3" idx="3"/>
            </p:cNvCxnSpPr>
            <p:nvPr/>
          </p:nvCxnSpPr>
          <p:spPr>
            <a:xfrm flipH="1" flipV="1">
              <a:off x="9144000" y="1450033"/>
              <a:ext cx="930593" cy="20264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/>
            <p:cNvSpPr txBox="1"/>
            <p:nvPr/>
          </p:nvSpPr>
          <p:spPr>
            <a:xfrm>
              <a:off x="10074593" y="3153327"/>
              <a:ext cx="16094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Valores observáveis</a:t>
              </a:r>
            </a:p>
          </p:txBody>
        </p:sp>
        <p:cxnSp>
          <p:nvCxnSpPr>
            <p:cNvPr id="32" name="Conector de Seta Reta 31"/>
            <p:cNvCxnSpPr>
              <a:stCxn id="14" idx="1"/>
            </p:cNvCxnSpPr>
            <p:nvPr/>
          </p:nvCxnSpPr>
          <p:spPr>
            <a:xfrm flipH="1">
              <a:off x="9144000" y="3476493"/>
              <a:ext cx="930593" cy="5598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14" idx="1"/>
            </p:cNvCxnSpPr>
            <p:nvPr/>
          </p:nvCxnSpPr>
          <p:spPr>
            <a:xfrm flipH="1">
              <a:off x="8738889" y="3476493"/>
              <a:ext cx="1335704" cy="16244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CaixaDeTexto 42"/>
          <p:cNvSpPr txBox="1"/>
          <p:nvPr/>
        </p:nvSpPr>
        <p:spPr>
          <a:xfrm>
            <a:off x="533400" y="4639270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 </a:t>
            </a:r>
            <a:r>
              <a:rPr lang="pt-BR" dirty="0" err="1"/>
              <a:t>Qubits</a:t>
            </a:r>
            <a:r>
              <a:rPr lang="pt-BR" dirty="0"/>
              <a:t> ao entrelaçarem, produzem 4 estados possíveis, cada um com uma amplitude associada 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533400" y="53340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 </a:t>
            </a:r>
            <a:r>
              <a:rPr lang="pt-BR" dirty="0" err="1"/>
              <a:t>Qubits</a:t>
            </a:r>
            <a:r>
              <a:rPr lang="pt-BR" dirty="0"/>
              <a:t> produzirão 8 estados possíveis</a:t>
            </a:r>
          </a:p>
        </p:txBody>
      </p:sp>
    </p:spTree>
    <p:extLst>
      <p:ext uri="{BB962C8B-B14F-4D97-AF65-F5344CB8AC3E}">
        <p14:creationId xmlns:p14="http://schemas.microsoft.com/office/powerpoint/2010/main" val="242290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Diferença: Podemos Influenciar o “Caminho”: Interferência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5"/>
          <a:stretch/>
        </p:blipFill>
        <p:spPr>
          <a:xfrm>
            <a:off x="9982200" y="1143000"/>
            <a:ext cx="962025" cy="46958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142999"/>
            <a:ext cx="6524625" cy="46958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034088" y="914400"/>
            <a:ext cx="900112" cy="517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2426849"/>
            <a:ext cx="1990331" cy="21281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6781800" y="4419600"/>
            <a:ext cx="2576512" cy="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129265" y="1981317"/>
            <a:ext cx="1752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Quantum Gate</a:t>
            </a:r>
          </a:p>
        </p:txBody>
      </p:sp>
      <p:cxnSp>
        <p:nvCxnSpPr>
          <p:cNvPr id="12" name="Conector de Seta Reta 11"/>
          <p:cNvCxnSpPr>
            <a:stCxn id="7" idx="1"/>
            <a:endCxn id="8" idx="1"/>
          </p:cNvCxnSpPr>
          <p:nvPr/>
        </p:nvCxnSpPr>
        <p:spPr>
          <a:xfrm flipV="1">
            <a:off x="6034088" y="3490911"/>
            <a:ext cx="976312" cy="8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3"/>
            <a:endCxn id="4" idx="1"/>
          </p:cNvCxnSpPr>
          <p:nvPr/>
        </p:nvCxnSpPr>
        <p:spPr>
          <a:xfrm>
            <a:off x="9000731" y="3490911"/>
            <a:ext cx="98146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6172200" y="9144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É possível alterar de uma única vez todas as amplitudes associadas a todos os estados</a:t>
            </a:r>
          </a:p>
        </p:txBody>
      </p:sp>
    </p:spTree>
    <p:extLst>
      <p:ext uri="{BB962C8B-B14F-4D97-AF65-F5344CB8AC3E}">
        <p14:creationId xmlns:p14="http://schemas.microsoft.com/office/powerpoint/2010/main" val="328436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633200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O Dilema: “Ele” Calcula com 4 “Números” mas no final nos mostra 1 “Número” Apenas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5"/>
          <a:stretch/>
        </p:blipFill>
        <p:spPr>
          <a:xfrm>
            <a:off x="9982200" y="1143000"/>
            <a:ext cx="962025" cy="46958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142999"/>
            <a:ext cx="6524625" cy="46958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6034088" y="914400"/>
            <a:ext cx="900112" cy="517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2426849"/>
            <a:ext cx="1990331" cy="2128123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6781800" y="4419600"/>
            <a:ext cx="2576512" cy="21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7129265" y="1981317"/>
            <a:ext cx="1752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Quantum Gate</a:t>
            </a:r>
          </a:p>
        </p:txBody>
      </p:sp>
      <p:cxnSp>
        <p:nvCxnSpPr>
          <p:cNvPr id="12" name="Conector de Seta Reta 11"/>
          <p:cNvCxnSpPr>
            <a:stCxn id="7" idx="1"/>
            <a:endCxn id="8" idx="1"/>
          </p:cNvCxnSpPr>
          <p:nvPr/>
        </p:nvCxnSpPr>
        <p:spPr>
          <a:xfrm flipV="1">
            <a:off x="6034088" y="3490911"/>
            <a:ext cx="976312" cy="8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8" idx="3"/>
            <a:endCxn id="4" idx="1"/>
          </p:cNvCxnSpPr>
          <p:nvPr/>
        </p:nvCxnSpPr>
        <p:spPr>
          <a:xfrm>
            <a:off x="9000731" y="3490911"/>
            <a:ext cx="98146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9972919" y="2303586"/>
            <a:ext cx="1066800" cy="1099038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9979025" y="1127341"/>
            <a:ext cx="965200" cy="1006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9975850" y="3646048"/>
            <a:ext cx="1301750" cy="23627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7138988" y="887967"/>
            <a:ext cx="4443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No entanto só conseguimos obter como resposta o valor correspondente a um único estado para cada medida.</a:t>
            </a:r>
          </a:p>
        </p:txBody>
      </p:sp>
      <p:sp>
        <p:nvSpPr>
          <p:cNvPr id="11" name="Elipse 10"/>
          <p:cNvSpPr/>
          <p:nvPr/>
        </p:nvSpPr>
        <p:spPr>
          <a:xfrm>
            <a:off x="10058400" y="2426848"/>
            <a:ext cx="892175" cy="882076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10150418" y="2622272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|01&gt;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7129265" y="4666235"/>
            <a:ext cx="4019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Neste caso obtivemos como resultado os valores 01, correspondentes ao 2º estado final possível do par de </a:t>
            </a:r>
            <a:r>
              <a:rPr lang="pt-BR" b="1" dirty="0" err="1"/>
              <a:t>Qubits</a:t>
            </a:r>
            <a:r>
              <a:rPr lang="pt-BR" b="1" dirty="0"/>
              <a:t> #1 e #2.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05302" y="887967"/>
            <a:ext cx="3785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Os cálculos são efetuados levando-se em conta os valores das amplitudes e dos estados.</a:t>
            </a:r>
          </a:p>
        </p:txBody>
      </p:sp>
    </p:spTree>
    <p:extLst>
      <p:ext uri="{BB962C8B-B14F-4D97-AF65-F5344CB8AC3E}">
        <p14:creationId xmlns:p14="http://schemas.microsoft.com/office/powerpoint/2010/main" val="350084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consulta a um banco de dados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145515"/>
              </p:ext>
            </p:extLst>
          </p:nvPr>
        </p:nvGraphicFramePr>
        <p:xfrm>
          <a:off x="406400" y="835269"/>
          <a:ext cx="850310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2" imgW="6076800" imgH="2505208" progId="Excel.SheetMacroEnabled.12">
                  <p:embed/>
                </p:oleObj>
              </mc:Choice>
              <mc:Fallback>
                <p:oleObj name="Planilha Habilitada para Macro" r:id="rId2" imgW="6076800" imgH="2505208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400" y="835269"/>
                        <a:ext cx="8503108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tângulo 9"/>
          <p:cNvSpPr/>
          <p:nvPr/>
        </p:nvSpPr>
        <p:spPr>
          <a:xfrm>
            <a:off x="314554" y="1905000"/>
            <a:ext cx="8686800" cy="2514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687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consulta a um banco de dados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406400" y="835269"/>
          <a:ext cx="850310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2" imgW="6076800" imgH="2505208" progId="Excel.SheetMacroEnabled.12">
                  <p:embed/>
                </p:oleObj>
              </mc:Choice>
              <mc:Fallback>
                <p:oleObj name="Planilha Habilitada para Macro" r:id="rId2" imgW="6076800" imgH="2505208" progId="Excel.SheetMacroEnabled.12">
                  <p:embed/>
                  <p:pic>
                    <p:nvPicPr>
                      <p:cNvPr id="9" name="Objeto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400" y="835269"/>
                        <a:ext cx="8503108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4419600"/>
            <a:ext cx="4529977" cy="2286000"/>
          </a:xfrm>
          <a:prstGeom prst="rect">
            <a:avLst/>
          </a:prstGeom>
        </p:spPr>
      </p:pic>
      <p:grpSp>
        <p:nvGrpSpPr>
          <p:cNvPr id="8" name="Agrupar 7"/>
          <p:cNvGrpSpPr/>
          <p:nvPr/>
        </p:nvGrpSpPr>
        <p:grpSpPr>
          <a:xfrm>
            <a:off x="4876800" y="48093"/>
            <a:ext cx="7120778" cy="3243161"/>
            <a:chOff x="4876800" y="109639"/>
            <a:chExt cx="7120778" cy="3243161"/>
          </a:xfrm>
        </p:grpSpPr>
        <p:sp>
          <p:nvSpPr>
            <p:cNvPr id="3" name="CaixaDeTexto 2"/>
            <p:cNvSpPr txBox="1"/>
            <p:nvPr/>
          </p:nvSpPr>
          <p:spPr>
            <a:xfrm>
              <a:off x="8819114" y="109639"/>
              <a:ext cx="3178464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Estado inicial do conjunto de </a:t>
              </a:r>
              <a:r>
                <a:rPr lang="pt-BR" dirty="0" err="1"/>
                <a:t>qubits</a:t>
              </a:r>
              <a:r>
                <a:rPr lang="pt-BR" dirty="0"/>
                <a:t> </a:t>
              </a:r>
              <a:r>
                <a:rPr lang="pt-BR" b="1" dirty="0"/>
                <a:t>q</a:t>
              </a:r>
              <a:r>
                <a:rPr lang="pt-BR" b="1" baseline="-25000" dirty="0"/>
                <a:t>0</a:t>
              </a:r>
              <a:r>
                <a:rPr lang="pt-BR" b="1" dirty="0"/>
                <a:t>q</a:t>
              </a:r>
              <a:r>
                <a:rPr lang="pt-BR" b="1" baseline="-25000" dirty="0"/>
                <a:t>1</a:t>
              </a:r>
              <a:r>
                <a:rPr lang="pt-BR" b="1" dirty="0"/>
                <a:t>q</a:t>
              </a:r>
              <a:r>
                <a:rPr lang="pt-BR" b="1" baseline="-25000" dirty="0"/>
                <a:t>2</a:t>
              </a:r>
              <a:r>
                <a:rPr lang="pt-BR" dirty="0"/>
                <a:t> </a:t>
              </a:r>
            </a:p>
          </p:txBody>
        </p:sp>
        <p:cxnSp>
          <p:nvCxnSpPr>
            <p:cNvPr id="5" name="Conector de Seta Reta 4"/>
            <p:cNvCxnSpPr>
              <a:stCxn id="3" idx="1"/>
            </p:cNvCxnSpPr>
            <p:nvPr/>
          </p:nvCxnSpPr>
          <p:spPr>
            <a:xfrm flipH="1">
              <a:off x="4876800" y="432805"/>
              <a:ext cx="3942314" cy="29199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Agrupar 10"/>
          <p:cNvGrpSpPr/>
          <p:nvPr/>
        </p:nvGrpSpPr>
        <p:grpSpPr>
          <a:xfrm>
            <a:off x="4953000" y="1032663"/>
            <a:ext cx="7044578" cy="2929737"/>
            <a:chOff x="4953000" y="109639"/>
            <a:chExt cx="7044578" cy="2929737"/>
          </a:xfrm>
        </p:grpSpPr>
        <p:sp>
          <p:nvSpPr>
            <p:cNvPr id="12" name="CaixaDeTexto 11"/>
            <p:cNvSpPr txBox="1"/>
            <p:nvPr/>
          </p:nvSpPr>
          <p:spPr>
            <a:xfrm>
              <a:off x="8991600" y="109639"/>
              <a:ext cx="3005978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Os </a:t>
              </a:r>
              <a:r>
                <a:rPr lang="pt-BR" dirty="0" err="1"/>
                <a:t>qubits</a:t>
              </a:r>
              <a:r>
                <a:rPr lang="pt-BR" dirty="0"/>
                <a:t> passam por uma porta quântica chamada </a:t>
              </a:r>
              <a:r>
                <a:rPr lang="pt-BR" dirty="0" err="1"/>
                <a:t>Hadamard</a:t>
              </a:r>
              <a:r>
                <a:rPr lang="pt-BR" dirty="0"/>
                <a:t> Gate a qual os coloca em uma superposição de estados</a:t>
              </a:r>
            </a:p>
          </p:txBody>
        </p:sp>
        <p:cxnSp>
          <p:nvCxnSpPr>
            <p:cNvPr id="13" name="Conector de Seta Reta 12"/>
            <p:cNvCxnSpPr>
              <a:stCxn id="12" idx="1"/>
            </p:cNvCxnSpPr>
            <p:nvPr/>
          </p:nvCxnSpPr>
          <p:spPr>
            <a:xfrm flipH="1">
              <a:off x="4953000" y="848303"/>
              <a:ext cx="4038600" cy="21910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Agrupar 15"/>
          <p:cNvGrpSpPr/>
          <p:nvPr/>
        </p:nvGrpSpPr>
        <p:grpSpPr>
          <a:xfrm>
            <a:off x="406400" y="4481314"/>
            <a:ext cx="7061200" cy="1200329"/>
            <a:chOff x="2514600" y="1881890"/>
            <a:chExt cx="5349617" cy="1200329"/>
          </a:xfrm>
        </p:grpSpPr>
        <p:sp>
          <p:nvSpPr>
            <p:cNvPr id="17" name="CaixaDeTexto 16"/>
            <p:cNvSpPr txBox="1"/>
            <p:nvPr/>
          </p:nvSpPr>
          <p:spPr>
            <a:xfrm>
              <a:off x="2514600" y="1881890"/>
              <a:ext cx="4021834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Neste momento, uma vez que as amplitudes são iguais, uma medida feita no conjunto de </a:t>
              </a:r>
              <a:r>
                <a:rPr lang="pt-BR" dirty="0" err="1"/>
                <a:t>qubits</a:t>
              </a:r>
              <a:r>
                <a:rPr lang="pt-BR" dirty="0"/>
                <a:t> terá igual probabilidade de obter como resultado qualquer dos oito possíveis estados</a:t>
              </a:r>
            </a:p>
          </p:txBody>
        </p:sp>
        <p:cxnSp>
          <p:nvCxnSpPr>
            <p:cNvPr id="18" name="Conector de Seta Reta 17"/>
            <p:cNvCxnSpPr>
              <a:stCxn id="17" idx="3"/>
              <a:endCxn id="2" idx="1"/>
            </p:cNvCxnSpPr>
            <p:nvPr/>
          </p:nvCxnSpPr>
          <p:spPr>
            <a:xfrm>
              <a:off x="6536434" y="2482055"/>
              <a:ext cx="1327783" cy="4811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73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consulta a um banco de dados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406400" y="835269"/>
          <a:ext cx="850310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2" imgW="6076800" imgH="2505208" progId="Excel.SheetMacroEnabled.12">
                  <p:embed/>
                </p:oleObj>
              </mc:Choice>
              <mc:Fallback>
                <p:oleObj name="Planilha Habilitada para Macro" r:id="rId2" imgW="6076800" imgH="2505208" progId="Excel.SheetMacroEnabled.12">
                  <p:embed/>
                  <p:pic>
                    <p:nvPicPr>
                      <p:cNvPr id="9" name="Objeto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400" y="835269"/>
                        <a:ext cx="8503108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406399" y="4488846"/>
          <a:ext cx="8503109" cy="122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4" imgW="6076800" imgH="876193" progId="Excel.SheetMacroEnabled.12">
                  <p:embed/>
                </p:oleObj>
              </mc:Choice>
              <mc:Fallback>
                <p:oleObj name="Planilha Habilitada para Macro" r:id="rId4" imgW="6076800" imgH="876193" progId="Excel.SheetMacroEnabled.12">
                  <p:embed/>
                  <p:pic>
                    <p:nvPicPr>
                      <p:cNvPr id="4" name="Objeto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399" y="4488846"/>
                        <a:ext cx="8503109" cy="1226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2054469"/>
            <a:ext cx="4529977" cy="228600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4419600"/>
            <a:ext cx="4529977" cy="2286000"/>
          </a:xfrm>
          <a:prstGeom prst="rect">
            <a:avLst/>
          </a:prstGeom>
        </p:spPr>
      </p:pic>
      <p:grpSp>
        <p:nvGrpSpPr>
          <p:cNvPr id="7" name="Agrupar 6"/>
          <p:cNvGrpSpPr/>
          <p:nvPr/>
        </p:nvGrpSpPr>
        <p:grpSpPr>
          <a:xfrm>
            <a:off x="4876800" y="228600"/>
            <a:ext cx="7120777" cy="3733800"/>
            <a:chOff x="4953000" y="109639"/>
            <a:chExt cx="7044578" cy="2929737"/>
          </a:xfrm>
        </p:grpSpPr>
        <p:sp>
          <p:nvSpPr>
            <p:cNvPr id="8" name="CaixaDeTexto 7"/>
            <p:cNvSpPr txBox="1"/>
            <p:nvPr/>
          </p:nvSpPr>
          <p:spPr>
            <a:xfrm>
              <a:off x="8991600" y="109639"/>
              <a:ext cx="3005978" cy="11591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Este conjunto de 8 possíveis estados será enviado simultaneamente, através dos 3 </a:t>
              </a:r>
              <a:r>
                <a:rPr lang="pt-BR" dirty="0" err="1"/>
                <a:t>qubits</a:t>
              </a:r>
              <a:r>
                <a:rPr lang="pt-BR" dirty="0"/>
                <a:t>, para o banco de dados. </a:t>
              </a:r>
            </a:p>
          </p:txBody>
        </p:sp>
        <p:cxnSp>
          <p:nvCxnSpPr>
            <p:cNvPr id="10" name="Conector de Seta Reta 9"/>
            <p:cNvCxnSpPr>
              <a:stCxn id="8" idx="1"/>
            </p:cNvCxnSpPr>
            <p:nvPr/>
          </p:nvCxnSpPr>
          <p:spPr>
            <a:xfrm flipH="1">
              <a:off x="4953000" y="689234"/>
              <a:ext cx="4038600" cy="23501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CaixaDeTexto 10"/>
          <p:cNvSpPr txBox="1"/>
          <p:nvPr/>
        </p:nvSpPr>
        <p:spPr>
          <a:xfrm>
            <a:off x="1676400" y="2362200"/>
            <a:ext cx="303849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É importante ressaltar que do ponto de vista físico (relativo às coisas </a:t>
            </a:r>
            <a:r>
              <a:rPr lang="pt-BR" b="1" i="1" dirty="0"/>
              <a:t>deste</a:t>
            </a:r>
            <a:r>
              <a:rPr lang="pt-BR" i="1" dirty="0"/>
              <a:t> </a:t>
            </a:r>
            <a:r>
              <a:rPr lang="pt-BR" dirty="0"/>
              <a:t>mundo) apenas </a:t>
            </a:r>
            <a:r>
              <a:rPr lang="pt-BR" b="1" dirty="0"/>
              <a:t>3 </a:t>
            </a:r>
            <a:r>
              <a:rPr lang="pt-BR" dirty="0"/>
              <a:t>canais de conexão são utilizados.</a:t>
            </a:r>
            <a:endParaRPr lang="pt-BR" b="1" dirty="0"/>
          </a:p>
        </p:txBody>
      </p:sp>
      <p:grpSp>
        <p:nvGrpSpPr>
          <p:cNvPr id="21" name="Agrupar 20"/>
          <p:cNvGrpSpPr/>
          <p:nvPr/>
        </p:nvGrpSpPr>
        <p:grpSpPr>
          <a:xfrm>
            <a:off x="4876800" y="2169358"/>
            <a:ext cx="6543693" cy="2319488"/>
            <a:chOff x="4876800" y="2169358"/>
            <a:chExt cx="6543693" cy="2319488"/>
          </a:xfrm>
        </p:grpSpPr>
        <p:sp>
          <p:nvSpPr>
            <p:cNvPr id="12" name="CaixaDeTexto 11"/>
            <p:cNvSpPr txBox="1"/>
            <p:nvPr/>
          </p:nvSpPr>
          <p:spPr>
            <a:xfrm>
              <a:off x="8077200" y="2169358"/>
              <a:ext cx="3343293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 banco de dados responde à consulta alterando as </a:t>
              </a:r>
              <a:r>
                <a:rPr lang="pt-BR" b="1" dirty="0"/>
                <a:t>8 </a:t>
              </a:r>
              <a:r>
                <a:rPr lang="pt-BR" dirty="0"/>
                <a:t>amplitudes dos </a:t>
              </a:r>
              <a:r>
                <a:rPr lang="pt-BR" b="1" dirty="0"/>
                <a:t>3 </a:t>
              </a:r>
              <a:r>
                <a:rPr lang="pt-BR" dirty="0" err="1"/>
                <a:t>qubits</a:t>
              </a:r>
              <a:r>
                <a:rPr lang="pt-BR" dirty="0"/>
                <a:t> simultaneamente</a:t>
              </a:r>
              <a:endParaRPr lang="pt-BR" b="1" dirty="0"/>
            </a:p>
          </p:txBody>
        </p:sp>
        <p:cxnSp>
          <p:nvCxnSpPr>
            <p:cNvPr id="13" name="Conector de Seta Reta 12"/>
            <p:cNvCxnSpPr>
              <a:stCxn id="12" idx="1"/>
            </p:cNvCxnSpPr>
            <p:nvPr/>
          </p:nvCxnSpPr>
          <p:spPr>
            <a:xfrm flipH="1">
              <a:off x="4876800" y="2769523"/>
              <a:ext cx="3200400" cy="17193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Agrupar 19"/>
          <p:cNvGrpSpPr/>
          <p:nvPr/>
        </p:nvGrpSpPr>
        <p:grpSpPr>
          <a:xfrm>
            <a:off x="5334000" y="3551270"/>
            <a:ext cx="6248400" cy="1200329"/>
            <a:chOff x="5334000" y="3551270"/>
            <a:chExt cx="6248400" cy="1200329"/>
          </a:xfrm>
        </p:grpSpPr>
        <p:sp>
          <p:nvSpPr>
            <p:cNvPr id="16" name="CaixaDeTexto 15"/>
            <p:cNvSpPr txBox="1"/>
            <p:nvPr/>
          </p:nvSpPr>
          <p:spPr>
            <a:xfrm>
              <a:off x="7848600" y="3551270"/>
              <a:ext cx="3733800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Observe que neste momento, no </a:t>
              </a:r>
              <a:r>
                <a:rPr lang="pt-BR" b="1" dirty="0"/>
                <a:t>outro </a:t>
              </a:r>
              <a:r>
                <a:rPr lang="pt-BR" dirty="0"/>
                <a:t>mundo, a resposta surgiu na forma de uma amplitude igual a -1 para o estado |100&gt;</a:t>
              </a:r>
              <a:endParaRPr lang="pt-BR" b="1" dirty="0"/>
            </a:p>
          </p:txBody>
        </p:sp>
        <p:cxnSp>
          <p:nvCxnSpPr>
            <p:cNvPr id="17" name="Conector de Seta Reta 16"/>
            <p:cNvCxnSpPr>
              <a:stCxn id="16" idx="1"/>
            </p:cNvCxnSpPr>
            <p:nvPr/>
          </p:nvCxnSpPr>
          <p:spPr>
            <a:xfrm flipH="1">
              <a:off x="5334000" y="4151435"/>
              <a:ext cx="2514600" cy="4967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Agrupar 21"/>
          <p:cNvGrpSpPr/>
          <p:nvPr/>
        </p:nvGrpSpPr>
        <p:grpSpPr>
          <a:xfrm>
            <a:off x="533400" y="505599"/>
            <a:ext cx="6407988" cy="4742316"/>
            <a:chOff x="5174412" y="3551270"/>
            <a:chExt cx="6407988" cy="4742316"/>
          </a:xfrm>
        </p:grpSpPr>
        <p:sp>
          <p:nvSpPr>
            <p:cNvPr id="23" name="CaixaDeTexto 22"/>
            <p:cNvSpPr txBox="1"/>
            <p:nvPr/>
          </p:nvSpPr>
          <p:spPr>
            <a:xfrm>
              <a:off x="5174412" y="3551270"/>
              <a:ext cx="6407988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 conjunto de 8 estados é passado para outra porta quântica que realiza uma operação de inversão em relação à média. Cada um dos estados resultantes em e</a:t>
              </a:r>
              <a:r>
                <a:rPr lang="pt-BR" baseline="-25000" dirty="0"/>
                <a:t>3</a:t>
              </a:r>
              <a:r>
                <a:rPr lang="pt-BR" dirty="0"/>
                <a:t> é produto da seguinte operação: e</a:t>
              </a:r>
              <a:r>
                <a:rPr lang="pt-BR" baseline="-25000" dirty="0"/>
                <a:t>3i</a:t>
              </a:r>
              <a:r>
                <a:rPr lang="pt-BR" dirty="0"/>
                <a:t> = </a:t>
              </a:r>
              <a:r>
                <a:rPr lang="pt-BR" dirty="0">
                  <a:latin typeface="Symbol" panose="05050102010706020507" pitchFamily="18" charset="2"/>
                </a:rPr>
                <a:t>m</a:t>
              </a:r>
              <a:r>
                <a:rPr lang="pt-BR" baseline="-25000" dirty="0"/>
                <a:t>e2</a:t>
              </a:r>
              <a:r>
                <a:rPr lang="pt-BR" dirty="0"/>
                <a:t> – [ e</a:t>
              </a:r>
              <a:r>
                <a:rPr lang="pt-BR" baseline="-25000" dirty="0"/>
                <a:t>2i</a:t>
              </a:r>
              <a:r>
                <a:rPr lang="pt-BR" dirty="0"/>
                <a:t> – </a:t>
              </a:r>
              <a:r>
                <a:rPr lang="pt-BR" dirty="0">
                  <a:latin typeface="Symbol" panose="05050102010706020507" pitchFamily="18" charset="2"/>
                </a:rPr>
                <a:t>m</a:t>
              </a:r>
              <a:r>
                <a:rPr lang="pt-BR" baseline="-25000" dirty="0"/>
                <a:t>e2</a:t>
              </a:r>
              <a:r>
                <a:rPr lang="pt-BR" dirty="0"/>
                <a:t> ]</a:t>
              </a:r>
              <a:endParaRPr lang="pt-BR" b="1" dirty="0"/>
            </a:p>
          </p:txBody>
        </p:sp>
        <p:cxnSp>
          <p:nvCxnSpPr>
            <p:cNvPr id="24" name="Conector de Seta Reta 23"/>
            <p:cNvCxnSpPr>
              <a:stCxn id="23" idx="2"/>
            </p:cNvCxnSpPr>
            <p:nvPr/>
          </p:nvCxnSpPr>
          <p:spPr>
            <a:xfrm>
              <a:off x="8378406" y="4751599"/>
              <a:ext cx="920560" cy="35419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CaixaDeTexto 27"/>
          <p:cNvSpPr txBox="1"/>
          <p:nvPr/>
        </p:nvSpPr>
        <p:spPr>
          <a:xfrm>
            <a:off x="7848600" y="4952276"/>
            <a:ext cx="37338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Nosso problema agora é fazer com que o estado |100&gt; tenha uma probabilidade cada vez maior de ser obtido como resultado de uma medida feita </a:t>
            </a:r>
            <a:r>
              <a:rPr lang="pt-BR" b="1" dirty="0"/>
              <a:t>neste </a:t>
            </a:r>
            <a:r>
              <a:rPr lang="pt-BR" dirty="0"/>
              <a:t>mundo!</a:t>
            </a:r>
            <a:endParaRPr lang="pt-BR" b="1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82092" y="3962400"/>
            <a:ext cx="39624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Como resultado da operação de inversão em relação à média, a amplitude do estado |100&gt; tornou-se maior que a dos demais estados.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6284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8" grpId="0" animBg="1"/>
      <p:bldP spid="28" grpId="1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consulta a um banco de dados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406400" y="835269"/>
          <a:ext cx="850310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2" imgW="6076800" imgH="2505208" progId="Excel.SheetMacroEnabled.12">
                  <p:embed/>
                </p:oleObj>
              </mc:Choice>
              <mc:Fallback>
                <p:oleObj name="Planilha Habilitada para Macro" r:id="rId2" imgW="6076800" imgH="2505208" progId="Excel.SheetMacroEnabled.12">
                  <p:embed/>
                  <p:pic>
                    <p:nvPicPr>
                      <p:cNvPr id="9" name="Objeto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400" y="835269"/>
                        <a:ext cx="8503108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745185"/>
              </p:ext>
            </p:extLst>
          </p:nvPr>
        </p:nvGraphicFramePr>
        <p:xfrm>
          <a:off x="406399" y="3114315"/>
          <a:ext cx="8503109" cy="122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4" imgW="6076800" imgH="876193" progId="Excel.SheetMacroEnabled.12">
                  <p:embed/>
                </p:oleObj>
              </mc:Choice>
              <mc:Fallback>
                <p:oleObj name="Planilha Habilitada para Macro" r:id="rId4" imgW="6076800" imgH="876193" progId="Excel.SheetMacroEnabled.12">
                  <p:embed/>
                  <p:pic>
                    <p:nvPicPr>
                      <p:cNvPr id="4" name="Objeto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399" y="3114315"/>
                        <a:ext cx="8503109" cy="12261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2054469"/>
            <a:ext cx="4529977" cy="2286000"/>
          </a:xfrm>
          <a:prstGeom prst="rect">
            <a:avLst/>
          </a:prstGeom>
        </p:spPr>
      </p:pic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307498"/>
              </p:ext>
            </p:extLst>
          </p:nvPr>
        </p:nvGraphicFramePr>
        <p:xfrm>
          <a:off x="406399" y="4488846"/>
          <a:ext cx="8503108" cy="122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7" imgW="6076800" imgH="876193" progId="Excel.SheetMacroEnabled.12">
                  <p:embed/>
                </p:oleObj>
              </mc:Choice>
              <mc:Fallback>
                <p:oleObj name="Planilha Habilitada para Macro" r:id="rId7" imgW="6076800" imgH="876193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399" y="4488846"/>
                        <a:ext cx="8503108" cy="1226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4419600"/>
            <a:ext cx="4529977" cy="2286000"/>
          </a:xfrm>
          <a:prstGeom prst="rect">
            <a:avLst/>
          </a:prstGeom>
        </p:spPr>
      </p:pic>
      <p:grpSp>
        <p:nvGrpSpPr>
          <p:cNvPr id="8" name="Agrupar 7"/>
          <p:cNvGrpSpPr/>
          <p:nvPr/>
        </p:nvGrpSpPr>
        <p:grpSpPr>
          <a:xfrm>
            <a:off x="4876800" y="228600"/>
            <a:ext cx="7120777" cy="3733800"/>
            <a:chOff x="4953000" y="109639"/>
            <a:chExt cx="7044578" cy="2929737"/>
          </a:xfrm>
        </p:grpSpPr>
        <p:sp>
          <p:nvSpPr>
            <p:cNvPr id="10" name="CaixaDeTexto 9"/>
            <p:cNvSpPr txBox="1"/>
            <p:nvPr/>
          </p:nvSpPr>
          <p:spPr>
            <a:xfrm>
              <a:off x="7591461" y="109639"/>
              <a:ext cx="4406117" cy="50714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 estado resultante da operação anterior é enviado novamente ao banco de dados</a:t>
              </a:r>
            </a:p>
          </p:txBody>
        </p:sp>
        <p:cxnSp>
          <p:nvCxnSpPr>
            <p:cNvPr id="11" name="Conector de Seta Reta 10"/>
            <p:cNvCxnSpPr>
              <a:stCxn id="10" idx="1"/>
            </p:cNvCxnSpPr>
            <p:nvPr/>
          </p:nvCxnSpPr>
          <p:spPr>
            <a:xfrm flipH="1">
              <a:off x="4953000" y="363211"/>
              <a:ext cx="2638461" cy="26761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ixaDeTexto 11"/>
          <p:cNvSpPr txBox="1"/>
          <p:nvPr/>
        </p:nvSpPr>
        <p:spPr>
          <a:xfrm>
            <a:off x="152400" y="2362200"/>
            <a:ext cx="54864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É importante ressaltar que os </a:t>
            </a:r>
            <a:r>
              <a:rPr lang="pt-BR" b="1" dirty="0"/>
              <a:t>8 </a:t>
            </a:r>
            <a:r>
              <a:rPr lang="pt-BR" dirty="0"/>
              <a:t>estados (que estão no </a:t>
            </a:r>
            <a:r>
              <a:rPr lang="pt-BR" b="1" dirty="0"/>
              <a:t>outro </a:t>
            </a:r>
            <a:r>
              <a:rPr lang="pt-BR" dirty="0"/>
              <a:t>mundo) são enviados ao banco de dados através de </a:t>
            </a:r>
            <a:r>
              <a:rPr lang="pt-BR" b="1" dirty="0"/>
              <a:t>3 </a:t>
            </a:r>
            <a:r>
              <a:rPr lang="pt-BR" dirty="0" err="1"/>
              <a:t>qubits</a:t>
            </a:r>
            <a:r>
              <a:rPr lang="pt-BR" dirty="0"/>
              <a:t> (que estão </a:t>
            </a:r>
            <a:r>
              <a:rPr lang="pt-BR" b="1" dirty="0"/>
              <a:t>neste </a:t>
            </a:r>
            <a:r>
              <a:rPr lang="pt-BR" dirty="0"/>
              <a:t>mundo)!</a:t>
            </a:r>
            <a:endParaRPr lang="pt-BR" b="1" dirty="0"/>
          </a:p>
        </p:txBody>
      </p:sp>
      <p:grpSp>
        <p:nvGrpSpPr>
          <p:cNvPr id="13" name="Agrupar 12"/>
          <p:cNvGrpSpPr/>
          <p:nvPr/>
        </p:nvGrpSpPr>
        <p:grpSpPr>
          <a:xfrm>
            <a:off x="5029201" y="1143000"/>
            <a:ext cx="6968376" cy="3361982"/>
            <a:chOff x="5103770" y="109639"/>
            <a:chExt cx="6893808" cy="2637989"/>
          </a:xfrm>
        </p:grpSpPr>
        <p:sp>
          <p:nvSpPr>
            <p:cNvPr id="14" name="CaixaDeTexto 13"/>
            <p:cNvSpPr txBox="1"/>
            <p:nvPr/>
          </p:nvSpPr>
          <p:spPr>
            <a:xfrm>
              <a:off x="7591461" y="109639"/>
              <a:ext cx="4406117" cy="9418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O banco de dados responde de forma similar a anterior, isto é, ele inverte o sinal da amplitude do estado com a nossa resposta. </a:t>
              </a:r>
            </a:p>
          </p:txBody>
        </p:sp>
        <p:cxnSp>
          <p:nvCxnSpPr>
            <p:cNvPr id="15" name="Conector de Seta Reta 14"/>
            <p:cNvCxnSpPr>
              <a:stCxn id="14" idx="1"/>
            </p:cNvCxnSpPr>
            <p:nvPr/>
          </p:nvCxnSpPr>
          <p:spPr>
            <a:xfrm flipH="1">
              <a:off x="5103770" y="580560"/>
              <a:ext cx="2487691" cy="21670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Agrupar 16"/>
          <p:cNvGrpSpPr/>
          <p:nvPr/>
        </p:nvGrpSpPr>
        <p:grpSpPr>
          <a:xfrm>
            <a:off x="5105399" y="2526450"/>
            <a:ext cx="6908800" cy="2846767"/>
            <a:chOff x="5137580" y="537471"/>
            <a:chExt cx="6834870" cy="2233724"/>
          </a:xfrm>
        </p:grpSpPr>
        <p:sp>
          <p:nvSpPr>
            <p:cNvPr id="18" name="CaixaDeTexto 17"/>
            <p:cNvSpPr txBox="1"/>
            <p:nvPr/>
          </p:nvSpPr>
          <p:spPr>
            <a:xfrm>
              <a:off x="7566333" y="537471"/>
              <a:ext cx="4406117" cy="1159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Em seguida os oito estados são submetidos novamente a operação de inversão relativa à média. Como na vez anterior, a amplitude do estado com a resposta correta torna-se ainda maior.</a:t>
              </a:r>
            </a:p>
          </p:txBody>
        </p:sp>
        <p:cxnSp>
          <p:nvCxnSpPr>
            <p:cNvPr id="19" name="Conector de Seta Reta 18"/>
            <p:cNvCxnSpPr>
              <a:stCxn id="18" idx="1"/>
            </p:cNvCxnSpPr>
            <p:nvPr/>
          </p:nvCxnSpPr>
          <p:spPr>
            <a:xfrm flipH="1">
              <a:off x="5137580" y="1117066"/>
              <a:ext cx="2428753" cy="16541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999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Observe a evolução da amplitude e da probabilidade de ser obter o estado |100&gt;</a:t>
            </a:r>
          </a:p>
        </p:txBody>
      </p:sp>
      <p:graphicFrame>
        <p:nvGraphicFramePr>
          <p:cNvPr id="10" name="Gráfic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367059"/>
              </p:ext>
            </p:extLst>
          </p:nvPr>
        </p:nvGraphicFramePr>
        <p:xfrm>
          <a:off x="533401" y="666750"/>
          <a:ext cx="4191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áfic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545172"/>
              </p:ext>
            </p:extLst>
          </p:nvPr>
        </p:nvGraphicFramePr>
        <p:xfrm>
          <a:off x="533401" y="2724150"/>
          <a:ext cx="4191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8043827"/>
              </p:ext>
            </p:extLst>
          </p:nvPr>
        </p:nvGraphicFramePr>
        <p:xfrm>
          <a:off x="533401" y="4781550"/>
          <a:ext cx="4191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Gráfico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7040387"/>
              </p:ext>
            </p:extLst>
          </p:nvPr>
        </p:nvGraphicFramePr>
        <p:xfrm>
          <a:off x="6705600" y="666750"/>
          <a:ext cx="4191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Gráfico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523679"/>
              </p:ext>
            </p:extLst>
          </p:nvPr>
        </p:nvGraphicFramePr>
        <p:xfrm>
          <a:off x="6705600" y="2724150"/>
          <a:ext cx="4191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Gráfico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379915"/>
              </p:ext>
            </p:extLst>
          </p:nvPr>
        </p:nvGraphicFramePr>
        <p:xfrm>
          <a:off x="6705600" y="4772891"/>
          <a:ext cx="4191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55384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13" grpId="0">
        <p:bldAsOne/>
      </p:bldGraphic>
      <p:bldGraphic spid="14" grpId="0">
        <p:bldAsOne/>
      </p:bldGraphic>
      <p:bldGraphic spid="16" grpId="0">
        <p:bldAsOne/>
      </p:bldGraphic>
      <p:bldGraphic spid="18" grpId="0">
        <p:bldAsOne/>
      </p:bldGraphic>
      <p:bldGraphic spid="20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consulta a um banco de dados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406400" y="835269"/>
          <a:ext cx="850310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2" imgW="6076800" imgH="2505208" progId="Excel.SheetMacroEnabled.12">
                  <p:embed/>
                </p:oleObj>
              </mc:Choice>
              <mc:Fallback>
                <p:oleObj name="Planilha Habilitada para Macro" r:id="rId2" imgW="6076800" imgH="2505208" progId="Excel.SheetMacroEnabled.12">
                  <p:embed/>
                  <p:pic>
                    <p:nvPicPr>
                      <p:cNvPr id="9" name="Objeto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400" y="835269"/>
                        <a:ext cx="8503108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406399" y="3114315"/>
          <a:ext cx="8503109" cy="122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4" imgW="6076800" imgH="876193" progId="Excel.SheetMacroEnabled.12">
                  <p:embed/>
                </p:oleObj>
              </mc:Choice>
              <mc:Fallback>
                <p:oleObj name="Planilha Habilitada para Macro" r:id="rId4" imgW="6076800" imgH="876193" progId="Excel.SheetMacroEnabled.12">
                  <p:embed/>
                  <p:pic>
                    <p:nvPicPr>
                      <p:cNvPr id="4" name="Objeto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6399" y="3114315"/>
                        <a:ext cx="8503109" cy="12261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406399" y="3114314"/>
          <a:ext cx="8503108" cy="122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6" imgW="6076800" imgH="876193" progId="Excel.SheetMacroEnabled.12">
                  <p:embed/>
                </p:oleObj>
              </mc:Choice>
              <mc:Fallback>
                <p:oleObj name="Planilha Habilitada para Macro" r:id="rId6" imgW="6076800" imgH="876193" progId="Excel.SheetMacroEnabled.12">
                  <p:embed/>
                  <p:pic>
                    <p:nvPicPr>
                      <p:cNvPr id="3" name="Objeto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6399" y="3114314"/>
                        <a:ext cx="8503108" cy="12261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7600" y="2054469"/>
            <a:ext cx="4529977" cy="2286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9C89CC9-6BDE-5852-7209-EE047A33537A}"/>
              </a:ext>
            </a:extLst>
          </p:cNvPr>
          <p:cNvSpPr/>
          <p:nvPr/>
        </p:nvSpPr>
        <p:spPr>
          <a:xfrm>
            <a:off x="406399" y="4495800"/>
            <a:ext cx="35575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Comparemos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aumento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da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necessidade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de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recursos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2803236"/>
              </p:ext>
            </p:extLst>
          </p:nvPr>
        </p:nvGraphicFramePr>
        <p:xfrm>
          <a:off x="4267200" y="4522788"/>
          <a:ext cx="5653088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9" imgW="3093654" imgH="1104953" progId="Excel.SheetMacroEnabled.12">
                  <p:embed/>
                </p:oleObj>
              </mc:Choice>
              <mc:Fallback>
                <p:oleObj name="Planilha Habilitada para Macro" r:id="rId9" imgW="3093654" imgH="1104953" progId="Excel.SheetMacroEnabled.12">
                  <p:embed/>
                  <p:pic>
                    <p:nvPicPr>
                      <p:cNvPr id="5" name="Objeto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7200" y="4522788"/>
                        <a:ext cx="5653088" cy="2019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490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pt-BR" dirty="0"/>
              <a:t>Porém atente: o que melhorou foi o número de operações necessárias para se chegar no resultado. </a:t>
            </a:r>
          </a:p>
          <a:p>
            <a:pPr algn="just"/>
            <a:r>
              <a:rPr lang="pt-BR" dirty="0"/>
              <a:t>As operações nas portas quânticas não são mais rápidas. O que ocorre é que para obtermos o mesmo resultado são necessárias menos operações nas portas com </a:t>
            </a:r>
            <a:r>
              <a:rPr lang="pt-BR" dirty="0" err="1"/>
              <a:t>Qubit</a:t>
            </a:r>
            <a:r>
              <a:rPr lang="pt-BR" dirty="0"/>
              <a:t> do que nas portas com Bits!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 aumento quadrático de desempenho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C89CC9-6BDE-5852-7209-EE047A33537A}"/>
              </a:ext>
            </a:extLst>
          </p:cNvPr>
          <p:cNvSpPr/>
          <p:nvPr/>
        </p:nvSpPr>
        <p:spPr>
          <a:xfrm>
            <a:off x="6781800" y="3733800"/>
            <a:ext cx="442112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Esta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é a Nova Lei de Moore:</a:t>
            </a:r>
          </a:p>
          <a:p>
            <a:pPr algn="ctr"/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invés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de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dobrar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 o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número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de transistors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um chip,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iremos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dobrar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número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de qubits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mantidos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entrelaçamento</a:t>
            </a:r>
            <a:r>
              <a:rPr lang="en-US" sz="2200" b="1" dirty="0">
                <a:solidFill>
                  <a:srgbClr val="003366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50569"/>
              </p:ext>
            </p:extLst>
          </p:nvPr>
        </p:nvGraphicFramePr>
        <p:xfrm>
          <a:off x="6165817" y="987670"/>
          <a:ext cx="5653088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 Habilitada para Macro" r:id="rId2" imgW="3093654" imgH="1104953" progId="Excel.SheetMacroEnabled.12">
                  <p:embed/>
                </p:oleObj>
              </mc:Choice>
              <mc:Fallback>
                <p:oleObj name="Planilha Habilitada para Macro" r:id="rId2" imgW="3093654" imgH="1104953" progId="Excel.SheetMacroEnabled.12">
                  <p:embed/>
                  <p:pic>
                    <p:nvPicPr>
                      <p:cNvPr id="5" name="Objeto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65817" y="987670"/>
                        <a:ext cx="5653088" cy="2019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254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Obrigado! – </a:t>
            </a:r>
            <a:r>
              <a:rPr lang="pt-BR" dirty="0" err="1"/>
              <a:t>Q&amp;As</a:t>
            </a:r>
            <a:r>
              <a:rPr lang="pt-BR" dirty="0"/>
              <a:t>?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2400"/>
            <a:ext cx="5943600" cy="5943600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</p:spPr>
      </p:pic>
      <p:sp>
        <p:nvSpPr>
          <p:cNvPr id="2" name="CaixaDeTexto 1"/>
          <p:cNvSpPr txBox="1"/>
          <p:nvPr/>
        </p:nvSpPr>
        <p:spPr>
          <a:xfrm>
            <a:off x="4648200" y="4038600"/>
            <a:ext cx="1066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21.05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696200" y="1900535"/>
            <a:ext cx="990600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2025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086600" y="5331023"/>
            <a:ext cx="15370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#TECHDAY2025</a:t>
            </a:r>
          </a:p>
        </p:txBody>
      </p:sp>
    </p:spTree>
    <p:extLst>
      <p:ext uri="{BB962C8B-B14F-4D97-AF65-F5344CB8AC3E}">
        <p14:creationId xmlns:p14="http://schemas.microsoft.com/office/powerpoint/2010/main" val="93522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914400" y="4343401"/>
            <a:ext cx="10363200" cy="533399"/>
          </a:xfrm>
        </p:spPr>
        <p:txBody>
          <a:bodyPr>
            <a:normAutofit fontScale="90000"/>
          </a:bodyPr>
          <a:lstStyle/>
          <a:p>
            <a:r>
              <a:rPr lang="pt-BR" dirty="0"/>
              <a:t>Computação Quântica: Implicações Gerenciais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1066800" y="5181600"/>
            <a:ext cx="10134600" cy="533400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Referência</a:t>
            </a:r>
            <a:r>
              <a:rPr lang="en-US" dirty="0">
                <a:solidFill>
                  <a:schemeClr val="tx1"/>
                </a:solidFill>
              </a:rPr>
              <a:t>: The Quantum Tortoise and the Classical Hare: A Simple Framework for understanding which problems quantum computing will accelerate (which it won’t). Fonte: http://arxiv.org/pdf/2310.15505.pdf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7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Qual o fenômeno chave para a existência dos computadores quânticos?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O fenômeno chave é a </a:t>
                </a:r>
                <a:r>
                  <a:rPr lang="pt-BR" i="1" dirty="0"/>
                  <a:t>sobreposição de estados. </a:t>
                </a:r>
              </a:p>
              <a:p>
                <a:endParaRPr lang="pt-BR" dirty="0"/>
              </a:p>
              <a:p>
                <a:r>
                  <a:rPr lang="pt-BR" dirty="0"/>
                  <a:t>Matematicamente dizemos: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</m:t>
                        </m:r>
                      </m:e>
                    </m:d>
                  </m:oMath>
                </a14:m>
                <a:r>
                  <a:rPr lang="pt-BR" dirty="0"/>
                  <a:t>. </a:t>
                </a:r>
              </a:p>
              <a:p>
                <a:endParaRPr lang="pt-BR" dirty="0"/>
              </a:p>
              <a:p>
                <a:r>
                  <a:rPr lang="pt-BR" dirty="0"/>
                  <a:t>Por ele, um </a:t>
                </a:r>
                <a:r>
                  <a:rPr lang="pt-BR" dirty="0" err="1"/>
                  <a:t>qubit</a:t>
                </a:r>
                <a:r>
                  <a:rPr lang="pt-BR" dirty="0"/>
                  <a:t> armazena uma amplitude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pt-BR" dirty="0"/>
                  <a:t>) para cada possível estado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Os estados ((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|0</m:t>
                        </m:r>
                      </m:e>
                    </m:d>
                  </m:oMath>
                </a14:m>
                <a:r>
                  <a:rPr lang="pt-BR" dirty="0"/>
                  <a:t> 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) podem ser observados </a:t>
                </a:r>
                <a:r>
                  <a:rPr lang="pt-BR" b="1" dirty="0"/>
                  <a:t>neste mundo</a:t>
                </a:r>
                <a:r>
                  <a:rPr lang="pt-BR" dirty="0"/>
                  <a:t>. </a:t>
                </a:r>
              </a:p>
              <a:p>
                <a:endParaRPr lang="pt-BR" dirty="0"/>
              </a:p>
              <a:p>
                <a:r>
                  <a:rPr lang="pt-BR" dirty="0"/>
                  <a:t>As amplitudes NÃO! Elas existem apenas </a:t>
                </a:r>
                <a:r>
                  <a:rPr lang="pt-BR" b="1" dirty="0"/>
                  <a:t>no outro mundo</a:t>
                </a:r>
                <a:r>
                  <a:rPr lang="pt-BR" dirty="0"/>
                  <a:t>.</a:t>
                </a:r>
                <a:r>
                  <a:rPr lang="pt-BR" b="1" dirty="0"/>
                  <a:t> </a:t>
                </a:r>
              </a:p>
              <a:p>
                <a:endParaRPr lang="pt-BR" dirty="0"/>
              </a:p>
              <a:p>
                <a:r>
                  <a:rPr lang="pt-BR" dirty="0"/>
                  <a:t>Percebemos sua existência (</a:t>
                </a:r>
                <a:r>
                  <a:rPr lang="pt-BR" b="1" dirty="0"/>
                  <a:t>neste mundo</a:t>
                </a:r>
                <a:r>
                  <a:rPr lang="pt-BR" dirty="0"/>
                  <a:t>) pois elas alteram a probabilidade de se obter um estado ((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|0</m:t>
                        </m:r>
                      </m:e>
                    </m:d>
                  </m:oMath>
                </a14:m>
                <a:r>
                  <a:rPr lang="pt-BR" dirty="0"/>
                  <a:t> 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</m:t>
                        </m:r>
                      </m:e>
                    </m:d>
                  </m:oMath>
                </a14:m>
                <a:r>
                  <a:rPr lang="pt-BR" dirty="0"/>
                  <a:t>) como resultado de uma observação. </a:t>
                </a:r>
              </a:p>
              <a:p>
                <a:endParaRPr lang="pt-BR" dirty="0"/>
              </a:p>
              <a:p>
                <a:r>
                  <a:rPr lang="pt-BR" dirty="0"/>
                  <a:t>Matematicamente dizemos: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dirty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0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dirty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  <a:blipFill>
                <a:blip r:embed="rId2"/>
                <a:stretch>
                  <a:fillRect l="-919" t="-2412" r="-703" b="-67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64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De onde surge a vantagem dos computadores quânticos?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Pelo </a:t>
                </a:r>
                <a:r>
                  <a:rPr lang="pt-BR" i="1" dirty="0"/>
                  <a:t>entrelaçamento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i="1" dirty="0"/>
                  <a:t> </a:t>
                </a:r>
                <a:r>
                  <a:rPr lang="pt-BR" dirty="0" err="1"/>
                  <a:t>qubits</a:t>
                </a:r>
                <a:r>
                  <a:rPr lang="pt-BR" dirty="0"/>
                  <a:t> (</a:t>
                </a:r>
                <a:r>
                  <a:rPr lang="pt-BR" b="1" dirty="0"/>
                  <a:t>neste mundo</a:t>
                </a:r>
                <a:r>
                  <a:rPr lang="pt-BR" dirty="0"/>
                  <a:t>) o qual produz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 estados possíveis, cada um deles com um valor e uma amplitude associada (</a:t>
                </a:r>
                <a:r>
                  <a:rPr lang="pt-BR" b="1" dirty="0"/>
                  <a:t>no outro mundo</a:t>
                </a:r>
                <a:r>
                  <a:rPr lang="pt-BR" dirty="0"/>
                  <a:t>). </a:t>
                </a:r>
              </a:p>
              <a:p>
                <a:pPr lvl="1"/>
                <a:endParaRPr lang="pt-BR" dirty="0"/>
              </a:p>
              <a:p>
                <a:r>
                  <a:rPr lang="pt-BR" dirty="0"/>
                  <a:t>Matematicamente dizemos: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endParaRPr lang="pt-B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𝑏𝑐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|01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𝑏𝑐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|11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  <a:blipFill>
                <a:blip r:embed="rId2"/>
                <a:stretch>
                  <a:fillRect l="-1027" t="-1864" r="-8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32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Qual a desvantagem?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Suponha: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|0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|01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𝑏𝑐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|10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𝑏𝑑</m:t>
                    </m:r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|11</m:t>
                        </m:r>
                      </m:e>
                    </m:d>
                  </m:oMath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Só podemos observar (</a:t>
                </a:r>
                <a:r>
                  <a:rPr lang="pt-BR" b="1" dirty="0"/>
                  <a:t>neste mundo</a:t>
                </a:r>
                <a:r>
                  <a:rPr lang="pt-BR" dirty="0"/>
                  <a:t>) o valor de um estado a cada medida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|0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 por ex.)</a:t>
                </a:r>
              </a:p>
              <a:p>
                <a:endParaRPr lang="pt-BR" dirty="0"/>
              </a:p>
              <a:p>
                <a:r>
                  <a:rPr lang="pt-BR" dirty="0"/>
                  <a:t>As amplitudes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dirty="0"/>
                  <a:t> por exemplo) são percebidas (</a:t>
                </a:r>
                <a:r>
                  <a:rPr lang="pt-BR" b="1" dirty="0"/>
                  <a:t>neste mundo</a:t>
                </a:r>
                <a:r>
                  <a:rPr lang="pt-BR" dirty="0"/>
                  <a:t>) pela maior ou menor probabilidade de se observar o valor do estado (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|01</m:t>
                        </m:r>
                      </m:e>
                    </m:d>
                  </m:oMath>
                </a14:m>
                <a:r>
                  <a:rPr lang="pt-BR" dirty="0"/>
                  <a:t> por ex.) ao ser efetuada uma medida.</a:t>
                </a:r>
              </a:p>
              <a:p>
                <a:endParaRPr lang="pt-BR" dirty="0"/>
              </a:p>
              <a:p>
                <a:r>
                  <a:rPr lang="pt-BR" dirty="0"/>
                  <a:t>Este fenômeno (quando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 estados possíveis se transformam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 único resultado) é denominado </a:t>
                </a:r>
                <a:r>
                  <a:rPr lang="pt-BR" i="1" dirty="0"/>
                  <a:t>colapso da função de onda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  <a:blipFill>
                <a:blip r:embed="rId2"/>
                <a:stretch>
                  <a:fillRect l="-1027" t="-10855" r="-8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08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Qual o desafio?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ço Reservado para Conteúdo 6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 estados podem ser manipulados de maneira conjunta (</a:t>
                </a:r>
                <a:r>
                  <a:rPr lang="pt-BR" b="1" dirty="0"/>
                  <a:t>no outro mundo</a:t>
                </a:r>
                <a:r>
                  <a:rPr lang="pt-BR" dirty="0"/>
                  <a:t>) através de um fenômeno chamado </a:t>
                </a:r>
                <a:r>
                  <a:rPr lang="pt-BR" i="1" dirty="0"/>
                  <a:t>interferência</a:t>
                </a:r>
                <a:r>
                  <a:rPr lang="pt-BR" dirty="0"/>
                  <a:t>. </a:t>
                </a:r>
              </a:p>
              <a:p>
                <a:endParaRPr lang="pt-BR" dirty="0"/>
              </a:p>
              <a:p>
                <a:r>
                  <a:rPr lang="pt-BR" dirty="0"/>
                  <a:t>Este é o fenômeno que permite a criação das portas lógicas quânticas.</a:t>
                </a:r>
              </a:p>
              <a:p>
                <a:endParaRPr lang="pt-BR" dirty="0"/>
              </a:p>
              <a:p>
                <a:r>
                  <a:rPr lang="pt-BR" dirty="0"/>
                  <a:t>O desafio portanto é de hardware E software. </a:t>
                </a:r>
              </a:p>
              <a:p>
                <a:endParaRPr lang="pt-BR" dirty="0"/>
              </a:p>
              <a:p>
                <a:pPr lvl="1"/>
                <a:r>
                  <a:rPr lang="pt-BR" dirty="0"/>
                  <a:t>É essencial que exista um hardware capaz de tirar vantagem da sobreposição de estados. </a:t>
                </a:r>
              </a:p>
              <a:p>
                <a:endParaRPr lang="pt-BR" dirty="0"/>
              </a:p>
              <a:p>
                <a:pPr lvl="1"/>
                <a:r>
                  <a:rPr lang="pt-BR" dirty="0"/>
                  <a:t>Porém é também necessário desenvolver algoritmos capazes de: </a:t>
                </a:r>
              </a:p>
              <a:p>
                <a:pPr lvl="2"/>
                <a:r>
                  <a:rPr lang="pt-BR" dirty="0"/>
                  <a:t>Resolver um problema prático </a:t>
                </a:r>
                <a:r>
                  <a:rPr lang="pt-BR" b="1" dirty="0"/>
                  <a:t>no outro mundo </a:t>
                </a:r>
                <a:r>
                  <a:rPr lang="pt-BR" dirty="0"/>
                  <a:t>(através da interferência de estados) e ... </a:t>
                </a:r>
              </a:p>
              <a:p>
                <a:pPr lvl="2"/>
                <a:r>
                  <a:rPr lang="pt-BR" dirty="0"/>
                  <a:t>... trazer a resposta de forma eficaz </a:t>
                </a:r>
                <a:r>
                  <a:rPr lang="pt-BR" b="1" dirty="0"/>
                  <a:t>para este mundo</a:t>
                </a:r>
                <a:r>
                  <a:rPr lang="pt-BR" dirty="0"/>
                  <a:t> (pois é impossível evitar o colapso da função de onda)</a:t>
                </a:r>
              </a:p>
            </p:txBody>
          </p:sp>
        </mc:Choice>
        <mc:Fallback xmlns="">
          <p:sp>
            <p:nvSpPr>
              <p:cNvPr id="7" name="Espaço Reservado para Conteúdo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  <a:blipFill>
                <a:blip r:embed="rId2"/>
                <a:stretch>
                  <a:fillRect l="-1027" t="-1864" r="-8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62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Vamos analisar a viabilidade de utilizar o algoritmo de </a:t>
            </a:r>
            <a:r>
              <a:rPr lang="pt-BR" dirty="0" err="1"/>
              <a:t>Grover</a:t>
            </a:r>
            <a:r>
              <a:rPr lang="pt-BR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7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181600"/>
              </a:xfrm>
            </p:spPr>
            <p:txBody>
              <a:bodyPr/>
              <a:lstStyle/>
              <a:p>
                <a:r>
                  <a:rPr lang="pt-BR" dirty="0"/>
                  <a:t>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err="1"/>
                  <a:t>qubits</a:t>
                </a:r>
                <a:r>
                  <a:rPr lang="pt-BR" dirty="0"/>
                  <a:t> lógicos pode-se procurar soluções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 números</a:t>
                </a:r>
              </a:p>
              <a:p>
                <a:pPr lvl="1"/>
                <a:r>
                  <a:rPr lang="pt-BR" dirty="0"/>
                  <a:t>O número de </a:t>
                </a:r>
                <a:r>
                  <a:rPr lang="pt-BR" dirty="0" err="1"/>
                  <a:t>qubits</a:t>
                </a:r>
                <a:r>
                  <a:rPr lang="pt-BR" dirty="0"/>
                  <a:t> lógicos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disponíveis hoje pode ser utilizado como uma medida do tamanho do problema que pode ser resolvido</a:t>
                </a:r>
              </a:p>
              <a:p>
                <a:r>
                  <a:rPr lang="pt-BR" dirty="0"/>
                  <a:t>O número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é utilizado para calcular o número de operações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(também chamado de </a:t>
                </a:r>
                <a:r>
                  <a:rPr lang="pt-BR" i="1" dirty="0"/>
                  <a:t>complexidade do algoritmo</a:t>
                </a:r>
                <a:r>
                  <a:rPr lang="pt-BR" dirty="0"/>
                  <a:t>)</a:t>
                </a:r>
                <a:r>
                  <a:rPr lang="pt-BR" i="1" dirty="0"/>
                  <a:t> </a:t>
                </a:r>
                <a:r>
                  <a:rPr lang="pt-BR" dirty="0"/>
                  <a:t>que será necessário para resolver o problema.</a:t>
                </a:r>
              </a:p>
              <a:p>
                <a:pPr lvl="1"/>
                <a:r>
                  <a:rPr lang="pt-BR" dirty="0"/>
                  <a:t>No caso de uma procura em uma lista não indexada, a procura em um computador clássico tem complexidade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baseline="-25000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pt-BR" dirty="0"/>
                  <a:t> e em um computador quântico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ad>
                      <m:radPr>
                        <m:degHide m:val="on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pt-BR" dirty="0"/>
              </a:p>
              <a:p>
                <a:r>
                  <a:rPr lang="pt-BR" dirty="0"/>
                  <a:t>Observe: a medida que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(o número de </a:t>
                </a:r>
                <a:r>
                  <a:rPr lang="pt-BR" dirty="0" err="1"/>
                  <a:t>qubits</a:t>
                </a:r>
                <a:r>
                  <a:rPr lang="pt-BR" dirty="0"/>
                  <a:t> lógicos disponíveis) aumenta, aumenta em ritmo exponencial o valor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(o tamanho do espaço de busca para a solução).</a:t>
                </a:r>
              </a:p>
              <a:p>
                <a:pPr lvl="1"/>
                <a:r>
                  <a:rPr lang="pt-BR" dirty="0"/>
                  <a:t>Sendo assim, o valor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o qual representa o número de operações necessárias para resolver o problema, irá crescer também. </a:t>
                </a:r>
              </a:p>
              <a:p>
                <a:pPr lvl="1"/>
                <a:r>
                  <a:rPr lang="pt-BR" dirty="0"/>
                  <a:t>O que se espera é que o valor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(chamado de complexidade do algoritmo) cresça em um ritmo menor, no algoritmo quântico do que no algoritmo clássico.  </a:t>
                </a:r>
              </a:p>
            </p:txBody>
          </p:sp>
        </mc:Choice>
        <mc:Fallback>
          <p:sp>
            <p:nvSpPr>
              <p:cNvPr id="8" name="Espaço Reservado para Conteúdo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181600"/>
              </a:xfrm>
              <a:blipFill>
                <a:blip r:embed="rId2"/>
                <a:stretch>
                  <a:fillRect l="-1027" t="-2000" r="-811" b="-4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Viabilidade econômica do algoritmo de </a:t>
            </a:r>
            <a:r>
              <a:rPr lang="pt-BR" dirty="0" err="1"/>
              <a:t>Grover</a:t>
            </a:r>
            <a:r>
              <a:rPr lang="pt-BR" dirty="0"/>
              <a:t> (II)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ço Reservado para Conteúdo 7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1816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Relembrando:</a:t>
                </a:r>
              </a:p>
              <a:p>
                <a:pPr lvl="1"/>
                <a:r>
                  <a:rPr lang="pt-BR" dirty="0"/>
                  <a:t>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err="1"/>
                  <a:t>qubits</a:t>
                </a:r>
                <a:r>
                  <a:rPr lang="pt-BR" dirty="0"/>
                  <a:t> lógicos pode-se procurar soluções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 números</a:t>
                </a:r>
              </a:p>
              <a:p>
                <a:pPr lvl="1"/>
                <a:r>
                  <a:rPr lang="pt-BR" dirty="0"/>
                  <a:t>O valor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é utilizado para determinar o número de operações necessárias para resolver o problema. Este valor é denominado </a:t>
                </a:r>
                <a:r>
                  <a:rPr lang="pt-BR" i="1" dirty="0"/>
                  <a:t>complexidade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do modelo.</a:t>
                </a:r>
              </a:p>
              <a:p>
                <a:pPr lvl="1"/>
                <a:r>
                  <a:rPr lang="pt-BR" dirty="0"/>
                  <a:t>No caso de uma procura de valor em uma lista não indexada, um algoritmo clássico tem complexidade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baseline="-25000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/2 </m:t>
                    </m:r>
                  </m:oMath>
                </a14:m>
                <a:r>
                  <a:rPr lang="pt-BR" dirty="0"/>
                  <a:t> e um algoritmo quântico 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ad>
                      <m:radPr>
                        <m:degHide m:val="on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pt-BR" dirty="0"/>
              </a:p>
              <a:p>
                <a:r>
                  <a:rPr lang="pt-BR" dirty="0"/>
                  <a:t>Primeiro vamos incluir em nossa análise a diferença de velocidade clássico-quântica</a:t>
                </a:r>
              </a:p>
              <a:p>
                <a:pPr lvl="1"/>
                <a:r>
                  <a:rPr lang="pt-BR" dirty="0" err="1"/>
                  <a:t>Amazon</a:t>
                </a:r>
                <a:r>
                  <a:rPr lang="pt-BR" dirty="0"/>
                  <a:t>, 32 core Intel Xeon CPU, 2.9Ghz = 152GFlops. Logo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1,52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09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err="1"/>
                  <a:t>op</a:t>
                </a:r>
                <a:r>
                  <a:rPr lang="pt-BR" dirty="0"/>
                  <a:t>/</a:t>
                </a:r>
                <a:r>
                  <a:rPr lang="pt-BR" dirty="0" err="1"/>
                  <a:t>seg</a:t>
                </a:r>
                <a:endParaRPr lang="pt-BR" dirty="0"/>
              </a:p>
              <a:p>
                <a:pPr lvl="1"/>
                <a:r>
                  <a:rPr lang="pt-BR" dirty="0"/>
                  <a:t>IBM, 1 </a:t>
                </a:r>
                <a:r>
                  <a:rPr lang="pt-BR" dirty="0" err="1"/>
                  <a:t>qpu</a:t>
                </a:r>
                <a:r>
                  <a:rPr lang="pt-BR" dirty="0"/>
                  <a:t> (quantum </a:t>
                </a:r>
                <a:r>
                  <a:rPr lang="pt-BR" dirty="0" err="1"/>
                  <a:t>processing</a:t>
                </a:r>
                <a:r>
                  <a:rPr lang="pt-BR" dirty="0"/>
                  <a:t> </a:t>
                </a:r>
                <a:r>
                  <a:rPr lang="pt-BR" dirty="0" err="1"/>
                  <a:t>unit</a:t>
                </a:r>
                <a:r>
                  <a:rPr lang="pt-BR" dirty="0"/>
                  <a:t>), 2Mhz. Logo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baseline="-2500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06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err="1"/>
                  <a:t>op</a:t>
                </a:r>
                <a:r>
                  <a:rPr lang="pt-BR" dirty="0"/>
                  <a:t>/</a:t>
                </a:r>
                <a:r>
                  <a:rPr lang="pt-BR" dirty="0" err="1"/>
                  <a:t>seg</a:t>
                </a:r>
                <a:r>
                  <a:rPr lang="pt-BR" dirty="0"/>
                  <a:t> </a:t>
                </a:r>
              </a:p>
              <a:p>
                <a:pPr lvl="1"/>
                <a:r>
                  <a:rPr lang="pt-BR" dirty="0"/>
                  <a:t>Sendo assim o fator de velocidade será: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pt-BR" dirty="0"/>
              </a:p>
              <a:p>
                <a:r>
                  <a:rPr lang="pt-BR" dirty="0"/>
                  <a:t>Em seguida incluímos a diferença de custo por segundo</a:t>
                </a:r>
              </a:p>
              <a:p>
                <a:pPr lvl="1"/>
                <a:r>
                  <a:rPr lang="pt-BR" dirty="0" err="1"/>
                  <a:t>Amazon</a:t>
                </a:r>
                <a:r>
                  <a:rPr lang="pt-BR" dirty="0"/>
                  <a:t>, $5,44 por hora. Logo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5,44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3600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=0,00151</m:t>
                    </m:r>
                  </m:oMath>
                </a14:m>
                <a:r>
                  <a:rPr lang="pt-BR" dirty="0"/>
                  <a:t> $/s</a:t>
                </a:r>
              </a:p>
              <a:p>
                <a:pPr lvl="1"/>
                <a:r>
                  <a:rPr lang="pt-BR" dirty="0"/>
                  <a:t>IBM, $1,60 por segundo. Logo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=1,60</m:t>
                    </m:r>
                  </m:oMath>
                </a14:m>
                <a:r>
                  <a:rPr lang="pt-BR" dirty="0"/>
                  <a:t> $/s</a:t>
                </a:r>
              </a:p>
              <a:p>
                <a:pPr lvl="1"/>
                <a:r>
                  <a:rPr lang="pt-BR" dirty="0"/>
                  <a:t>Sendo assim o fator de custo será: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8" name="Espaço Reservado para Conteúdo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181600"/>
              </a:xfrm>
              <a:blipFill>
                <a:blip r:embed="rId2"/>
                <a:stretch>
                  <a:fillRect l="-919" t="-2588" r="-541" b="-8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39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Viabilidade econômica do algoritmo de </a:t>
            </a:r>
            <a:r>
              <a:rPr lang="pt-BR" dirty="0" err="1"/>
              <a:t>Grover</a:t>
            </a:r>
            <a:r>
              <a:rPr lang="pt-BR" dirty="0"/>
              <a:t> (III)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7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O fator de aumento (decorrente das diferenças de complexidade do algoritmo, velocidade e custo  entre os computadores quântico e clássico) será calculado como: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𝐹𝑎𝑡𝑜𝑟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𝑐𝑙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𝑠𝑠𝑖𝑐𝑜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.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𝑐𝑙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𝑠𝑠𝑖𝑐𝑜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.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𝐶𝑢𝑠𝑡𝑜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𝑐𝑙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𝑠𝑠𝑖𝑐𝑜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𝐹𝑎𝑡𝑜𝑟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. 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𝐶𝑢𝑠𝑡𝑜𝑞𝑢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 </m:t>
                        </m:r>
                      </m:den>
                    </m:f>
                    <m:r>
                      <a:rPr lang="pt-BR" i="1">
                        <a:latin typeface="Cambria Math" panose="02040503050406030204" pitchFamily="18" charset="0"/>
                      </a:rPr>
                      <m:t> .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𝐶𝑙𝑜𝑐𝑘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𝑐𝑙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𝑠𝑠𝑖𝑐𝑜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𝑐𝑙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𝑠𝑠𝑖𝑐𝑜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. 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𝐶𝑢𝑠𝑡𝑜𝑞𝑢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b="0" i="1" baseline="-25000" smtClean="0">
                            <a:latin typeface="Cambria Math" panose="02040503050406030204" pitchFamily="18" charset="0"/>
                          </a:rPr>
                          <m:t>𝑛𝑡𝑖𝑐𝑜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r>
                  <a:rPr lang="pt-BR" dirty="0"/>
                  <a:t>O Fator é adimensional mas é interessante conhecer a dimensão de cada termo do produto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𝐹𝑎𝑡𝑜𝑟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𝑂𝑝𝑒𝑟𝑎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çõ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𝑒𝑠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 . </m:t>
                            </m:r>
                            <m:f>
                              <m:fPr>
                                <m:type m:val="skw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𝑠𝑒𝑔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type m:val="skw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𝑂𝑝𝑒𝑟𝑎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çõ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𝑒𝑠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𝑠𝑒𝑔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/ 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𝑂𝑝𝑒𝑟𝑎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çõ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𝑒𝑠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 . </m:t>
                            </m:r>
                            <m:f>
                              <m:fPr>
                                <m:type m:val="skw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𝑠𝑒𝑔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type m:val="skw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𝑂𝑝𝑒𝑟𝑎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çõ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𝑒𝑠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𝑠𝑒𝑔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$</m:t>
                        </m:r>
                        <m:r>
                          <a:rPr lang="pt-BR" b="0" i="1" baseline="-25000" dirty="0" smtClean="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b="0" i="1" baseline="-25000" dirty="0" smtClean="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b="0" i="1" baseline="-25000" dirty="0" smtClean="0">
                            <a:latin typeface="Cambria Math" panose="02040503050406030204" pitchFamily="18" charset="0"/>
                          </a:rPr>
                          <m:t>𝑛𝑡𝑖𝑐𝑜</m:t>
                        </m:r>
                      </m:num>
                      <m:den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$</m:t>
                        </m:r>
                        <m:r>
                          <a:rPr lang="pt-BR" b="0" i="1" baseline="-25000" dirty="0" smtClean="0">
                            <a:latin typeface="Cambria Math" panose="02040503050406030204" pitchFamily="18" charset="0"/>
                          </a:rPr>
                          <m:t>𝑐𝑙</m:t>
                        </m:r>
                        <m:r>
                          <a:rPr lang="pt-BR" b="0" i="1" baseline="-25000" dirty="0" smtClean="0"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pt-BR" b="0" i="1" baseline="-25000" dirty="0" smtClean="0">
                            <a:latin typeface="Cambria Math" panose="02040503050406030204" pitchFamily="18" charset="0"/>
                          </a:rPr>
                          <m:t>𝑠𝑠𝑖𝑐𝑜</m:t>
                        </m:r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𝑛𝑡𝑖𝑐𝑜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𝐹𝑎𝑡𝑜𝑟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r>
                  <a:rPr lang="pt-BR" dirty="0"/>
                  <a:t>Sendo assim, o número de </a:t>
                </a:r>
                <a:r>
                  <a:rPr lang="pt-BR" dirty="0" err="1"/>
                  <a:t>qubits</a:t>
                </a:r>
                <a:r>
                  <a:rPr lang="pt-BR" dirty="0"/>
                  <a:t> necessários para implementar o </a:t>
                </a:r>
                <a:r>
                  <a:rPr lang="pt-BR" i="1" dirty="0" err="1"/>
                  <a:t>N</a:t>
                </a:r>
                <a:r>
                  <a:rPr lang="pt-BR" i="1" baseline="-25000" dirty="0" err="1"/>
                  <a:t>eq</a:t>
                </a:r>
                <a:r>
                  <a:rPr lang="pt-BR" dirty="0"/>
                  <a:t> será dado por: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8" name="Espaço Reservado para Conteúdo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  <a:blipFill>
                <a:blip r:embed="rId2"/>
                <a:stretch>
                  <a:fillRect l="-919" t="-2412" r="-7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6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Viabilidade econômica do algoritmo de </a:t>
            </a:r>
            <a:r>
              <a:rPr lang="pt-BR" dirty="0" err="1"/>
              <a:t>Grover</a:t>
            </a:r>
            <a:r>
              <a:rPr lang="pt-BR" dirty="0"/>
              <a:t> (IV)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aço Reservado para Conteúdo 7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Observe como fica o cálculo no caso do algoritmo de </a:t>
                </a:r>
                <a:r>
                  <a:rPr lang="pt-BR" dirty="0" err="1"/>
                  <a:t>Grover</a:t>
                </a:r>
                <a:r>
                  <a:rPr lang="pt-BR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𝑞𝑢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â</m:t>
                        </m:r>
                        <m:r>
                          <a:rPr lang="pt-BR" i="1" baseline="-25000">
                            <a:latin typeface="Cambria Math" panose="02040503050406030204" pitchFamily="18" charset="0"/>
                          </a:rPr>
                          <m:t>𝑛𝑡𝑖𝑐𝑜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𝐹𝑎𝑡𝑜𝑟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𝑞𝑢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𝑛𝑡𝑖𝑐𝑜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𝑞𝑢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𝑛𝑡𝑖𝑐𝑜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𝑐𝑙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𝑠𝑠𝑖𝑐𝑜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pt-BR" i="1">
                            <a:latin typeface="Cambria Math" panose="02040503050406030204" pitchFamily="18" charset="0"/>
                          </a:rPr>
                          <m:t> .</m:t>
                        </m:r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𝐶𝑙𝑜𝑐𝑘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𝑐𝑙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𝑠𝑠𝑖𝑐𝑜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𝐶𝑙𝑜𝑐𝑘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𝑞𝑢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𝑛𝑡𝑖𝑐𝑜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pt-BR" i="1">
                            <a:latin typeface="Cambria Math" panose="02040503050406030204" pitchFamily="18" charset="0"/>
                          </a:rPr>
                          <m:t> .</m:t>
                        </m:r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𝐶𝑢𝑠𝑡𝑜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𝑞𝑢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𝑛𝑡𝑖𝑐𝑜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𝐶𝑙𝑜𝑐𝑘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𝑐𝑙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𝑠𝑠𝑖𝑐𝑜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𝑞𝑢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𝑛𝑡𝑖𝑐𝑜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𝑎𝑙𝑔𝑜𝑟𝑖𝑡𝑚𝑜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 .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𝑣𝑒𝑙𝑜𝑐𝑖𝑑𝑎𝑑𝑒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𝑐𝑢𝑠𝑡𝑜</m:t>
                            </m:r>
                          </m:sub>
                        </m:sSub>
                      </m:e>
                    </m:d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𝑞𝑢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â</m:t>
                            </m:r>
                            <m:r>
                              <a:rPr lang="pt-BR" i="1" baseline="-25000">
                                <a:latin typeface="Cambria Math" panose="02040503050406030204" pitchFamily="18" charset="0"/>
                              </a:rPr>
                              <m:t>𝑛𝑡𝑖𝑐𝑜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.</m:t>
                        </m:r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𝑎𝑙𝑔𝑜𝑟𝑖𝑡𝑚𝑜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𝑣𝑒𝑙𝑜𝑐𝑖𝑑𝑎𝑑𝑒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𝑐𝑢𝑠𝑡𝑜</m:t>
                            </m:r>
                          </m:sub>
                        </m:sSub>
                      </m:e>
                    </m:d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  <m:r>
                          <a:rPr lang="pt-BR" i="1">
                            <a:latin typeface="Cambria Math" panose="02040503050406030204" pitchFamily="18" charset="0"/>
                          </a:rPr>
                          <m:t>. </m:t>
                        </m:r>
                        <m:f>
                          <m:fPr>
                            <m:type m:val="skw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rad>
                          </m:num>
                          <m:den>
                            <m:f>
                              <m:fPr>
                                <m:type m:val="skw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𝑣𝑒𝑙𝑜𝑐𝑖𝑑𝑎𝑑𝑒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𝑐𝑢𝑠𝑡𝑜</m:t>
                            </m:r>
                          </m:sub>
                        </m:sSub>
                      </m:e>
                    </m:d>
                  </m:oMath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𝑣𝑒𝑙𝑜𝑐𝑖𝑑𝑎𝑑𝑒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𝑐𝑢𝑠𝑡𝑜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 +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𝑣𝑒𝑙𝑜𝑐𝑖𝑑𝑎𝑑𝑒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𝑐𝑢𝑠𝑡𝑜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  <a:p>
                <a:r>
                  <a:rPr lang="pt-BR" dirty="0"/>
                  <a:t>Sendo assim, percebe-se que o número de </a:t>
                </a:r>
                <a:r>
                  <a:rPr lang="pt-BR" dirty="0" err="1"/>
                  <a:t>qubits</a:t>
                </a:r>
                <a:r>
                  <a:rPr lang="pt-BR" dirty="0"/>
                  <a:t> lógicos necessários para o algoritmo de Grover ser implementado de forma economicamente viável é uma quantidade constante dada uma tecnologia. De fato,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baseline="-25000" smtClean="0">
                        <a:latin typeface="Cambria Math" panose="02040503050406030204" pitchFamily="18" charset="0"/>
                      </a:rPr>
                      <m:t>𝑒𝑞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=29,6 ≅30 </m:t>
                    </m:r>
                  </m:oMath>
                </a14:m>
                <a:r>
                  <a:rPr lang="pt-BR" dirty="0" err="1"/>
                  <a:t>qubits</a:t>
                </a:r>
                <a:r>
                  <a:rPr lang="pt-BR" dirty="0"/>
                  <a:t> lógicos</a:t>
                </a:r>
              </a:p>
            </p:txBody>
          </p:sp>
        </mc:Choice>
        <mc:Fallback>
          <p:sp>
            <p:nvSpPr>
              <p:cNvPr id="8" name="Espaço Reservado para Conteúdo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533400"/>
                <a:ext cx="11277600" cy="5562600"/>
              </a:xfrm>
              <a:blipFill>
                <a:blip r:embed="rId2"/>
                <a:stretch>
                  <a:fillRect l="-1027" t="-1864" r="-811" b="-14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05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31765-CAAF-4EAD-8F8A-F7821ED3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do Algoritmo de </a:t>
            </a:r>
            <a:r>
              <a:rPr lang="pt-BR" dirty="0" err="1"/>
              <a:t>Shor</a:t>
            </a:r>
            <a:r>
              <a:rPr lang="pt-BR" dirty="0"/>
              <a:t> (Fatoração de números com n dígitos)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205FF-2B8F-4CCA-9C8E-A73204512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Neste caso o algoritmo parte do número de dígitos que compõe a chave pública</a:t>
            </a:r>
          </a:p>
          <a:p>
            <a:r>
              <a:rPr lang="pt-BR" dirty="0"/>
              <a:t>Por exemplo o número de </a:t>
            </a:r>
            <a:r>
              <a:rPr lang="pt-BR" dirty="0" err="1"/>
              <a:t>qubits</a:t>
            </a:r>
            <a:r>
              <a:rPr lang="pt-BR" dirty="0"/>
              <a:t> necessários para implementar o algoritmo de </a:t>
            </a:r>
            <a:r>
              <a:rPr lang="pt-BR" dirty="0" err="1"/>
              <a:t>Shor</a:t>
            </a:r>
            <a:r>
              <a:rPr lang="pt-BR" dirty="0"/>
              <a:t> a partir de uma chave composta de 2048 dígitos decimais será:</a:t>
            </a:r>
          </a:p>
          <a:p>
            <a:pPr lvl="1"/>
            <a:r>
              <a:rPr lang="pt-BR" dirty="0" err="1"/>
              <a:t>n_dig_binários</a:t>
            </a:r>
            <a:r>
              <a:rPr lang="pt-BR" dirty="0"/>
              <a:t> = log2(2048) ~= 6600</a:t>
            </a:r>
          </a:p>
          <a:p>
            <a:pPr lvl="1"/>
            <a:r>
              <a:rPr lang="pt-BR" dirty="0" err="1"/>
              <a:t>n_qubits_shor</a:t>
            </a:r>
            <a:r>
              <a:rPr lang="pt-BR" dirty="0"/>
              <a:t> = 2(</a:t>
            </a:r>
            <a:r>
              <a:rPr lang="pt-BR" dirty="0" err="1"/>
              <a:t>n_dig_binários</a:t>
            </a:r>
            <a:r>
              <a:rPr lang="pt-BR" dirty="0"/>
              <a:t>) + 3</a:t>
            </a:r>
          </a:p>
          <a:p>
            <a:pPr lvl="2"/>
            <a:r>
              <a:rPr lang="pt-BR" dirty="0"/>
              <a:t>O algoritmo requer </a:t>
            </a:r>
            <a:r>
              <a:rPr lang="pt-BR" dirty="0" err="1"/>
              <a:t>n_dig_binários</a:t>
            </a:r>
            <a:r>
              <a:rPr lang="pt-BR" dirty="0"/>
              <a:t> para representar o número N = 2^n_dig_binários, mais </a:t>
            </a:r>
            <a:r>
              <a:rPr lang="pt-BR" dirty="0" err="1"/>
              <a:t>n_dig_binários</a:t>
            </a:r>
            <a:r>
              <a:rPr lang="pt-BR" dirty="0"/>
              <a:t> para representar cada expoente de procura do período de busca, mais 3 </a:t>
            </a:r>
            <a:r>
              <a:rPr lang="pt-BR" dirty="0" err="1"/>
              <a:t>qubits</a:t>
            </a:r>
            <a:r>
              <a:rPr lang="pt-BR" dirty="0"/>
              <a:t> de suporte (auxiliares)</a:t>
            </a:r>
          </a:p>
          <a:p>
            <a:pPr lvl="1"/>
            <a:r>
              <a:rPr lang="pt-BR" dirty="0"/>
              <a:t>A este número devemos acrescentar aprox. 29 </a:t>
            </a:r>
            <a:r>
              <a:rPr lang="pt-BR" dirty="0" err="1"/>
              <a:t>qubits</a:t>
            </a:r>
            <a:r>
              <a:rPr lang="pt-BR" dirty="0"/>
              <a:t> por conta da diferença de velocidade e custo (atuais) entre os computadores clássicos e quânticos (vide slide anterior)</a:t>
            </a:r>
          </a:p>
          <a:p>
            <a:pPr lvl="1"/>
            <a:r>
              <a:rPr lang="pt-BR" dirty="0"/>
              <a:t>Sendo assim o número de </a:t>
            </a:r>
            <a:r>
              <a:rPr lang="pt-BR" dirty="0" err="1"/>
              <a:t>qubits</a:t>
            </a:r>
            <a:r>
              <a:rPr lang="pt-BR" dirty="0"/>
              <a:t> necessários para implementar o algoritmo de </a:t>
            </a:r>
            <a:r>
              <a:rPr lang="pt-BR" dirty="0" err="1"/>
              <a:t>Shor</a:t>
            </a:r>
            <a:r>
              <a:rPr lang="pt-BR" dirty="0"/>
              <a:t>, com a velocidade e custos relativos atuais, em uma chave com 2048 dígitos decimais de comprimento será de: 2(6600) + 3 + 29 ~= 13250 </a:t>
            </a:r>
            <a:r>
              <a:rPr lang="pt-BR" dirty="0" err="1"/>
              <a:t>qubits</a:t>
            </a:r>
            <a:r>
              <a:rPr lang="pt-BR" dirty="0"/>
              <a:t> lógicos.</a:t>
            </a:r>
          </a:p>
        </p:txBody>
      </p:sp>
    </p:spTree>
    <p:extLst>
      <p:ext uri="{BB962C8B-B14F-4D97-AF65-F5344CB8AC3E}">
        <p14:creationId xmlns:p14="http://schemas.microsoft.com/office/powerpoint/2010/main" val="137524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372727"/>
          </a:xfrm>
        </p:spPr>
        <p:txBody>
          <a:bodyPr>
            <a:normAutofit fontScale="90000"/>
          </a:bodyPr>
          <a:lstStyle/>
          <a:p>
            <a:r>
              <a:rPr lang="pt-BR" dirty="0"/>
              <a:t>No momento as melhores implementações conseguem 2! </a:t>
            </a:r>
            <a:r>
              <a:rPr lang="pt-BR" dirty="0" err="1"/>
              <a:t>qubits</a:t>
            </a:r>
            <a:r>
              <a:rPr lang="pt-BR" dirty="0"/>
              <a:t> lógicos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8600" y="533400"/>
            <a:ext cx="11734800" cy="5562600"/>
          </a:xfrm>
        </p:spPr>
        <p:txBody>
          <a:bodyPr/>
          <a:lstStyle/>
          <a:p>
            <a:r>
              <a:rPr lang="pt-BR" dirty="0"/>
              <a:t>A tabela abaixo estima o tempo necessário para tornar o algoritmo de </a:t>
            </a:r>
            <a:r>
              <a:rPr lang="pt-BR" dirty="0" err="1"/>
              <a:t>Grover</a:t>
            </a:r>
            <a:r>
              <a:rPr lang="pt-BR" dirty="0"/>
              <a:t> viável:</a:t>
            </a:r>
          </a:p>
          <a:p>
            <a:pPr lvl="1"/>
            <a:r>
              <a:rPr lang="pt-BR" dirty="0"/>
              <a:t>O número de cores em uma CPU clássica passa para 256 cores. O </a:t>
            </a:r>
            <a:r>
              <a:rPr lang="pt-BR" dirty="0" err="1"/>
              <a:t>clock</a:t>
            </a:r>
            <a:r>
              <a:rPr lang="pt-BR" dirty="0"/>
              <a:t> e custo ficam iguais.</a:t>
            </a:r>
          </a:p>
          <a:p>
            <a:pPr lvl="1"/>
            <a:r>
              <a:rPr lang="pt-BR" dirty="0"/>
              <a:t>A tecnologia parte de 2 </a:t>
            </a:r>
            <a:r>
              <a:rPr lang="pt-BR" dirty="0" err="1"/>
              <a:t>qubits</a:t>
            </a:r>
            <a:r>
              <a:rPr lang="pt-BR" dirty="0"/>
              <a:t> lógicos em 2025. O </a:t>
            </a:r>
            <a:r>
              <a:rPr lang="pt-BR" dirty="0" err="1"/>
              <a:t>clock</a:t>
            </a:r>
            <a:r>
              <a:rPr lang="pt-BR" dirty="0"/>
              <a:t> e o custo da </a:t>
            </a:r>
            <a:r>
              <a:rPr lang="pt-BR" dirty="0" err="1"/>
              <a:t>tecn.quântica</a:t>
            </a:r>
            <a:r>
              <a:rPr lang="pt-BR" dirty="0"/>
              <a:t> ficam iguais. </a:t>
            </a:r>
          </a:p>
          <a:p>
            <a:pPr lvl="1"/>
            <a:r>
              <a:rPr lang="pt-BR" dirty="0"/>
              <a:t>Ocorre um aumento anual de 1 </a:t>
            </a:r>
            <a:r>
              <a:rPr lang="pt-BR" dirty="0" err="1"/>
              <a:t>qubit</a:t>
            </a:r>
            <a:r>
              <a:rPr lang="pt-BR" dirty="0"/>
              <a:t> no próprio aumento anual de </a:t>
            </a:r>
            <a:r>
              <a:rPr lang="pt-BR" dirty="0" err="1"/>
              <a:t>qubits</a:t>
            </a:r>
            <a:r>
              <a:rPr lang="pt-BR" dirty="0"/>
              <a:t>. Isto tornará a curva inicial de melhoria da computação quântica uma função quadrática.</a:t>
            </a:r>
          </a:p>
          <a:p>
            <a:pPr lvl="1"/>
            <a:r>
              <a:rPr lang="pt-BR" dirty="0"/>
              <a:t>Isto prevê o uso de computadores quânticos em algoritmos de procura a partir de 2032.</a:t>
            </a:r>
          </a:p>
          <a:p>
            <a:pPr lvl="1"/>
            <a:endParaRPr lang="pt-BR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5BAC511F-DF06-44A8-901D-68F5ED2C9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238495"/>
              </p:ext>
            </p:extLst>
          </p:nvPr>
        </p:nvGraphicFramePr>
        <p:xfrm>
          <a:off x="76200" y="3179762"/>
          <a:ext cx="12026537" cy="337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915477" imgH="2781328" progId="Excel.Sheet.12">
                  <p:embed/>
                </p:oleObj>
              </mc:Choice>
              <mc:Fallback>
                <p:oleObj name="Worksheet" r:id="rId2" imgW="9915477" imgH="278132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" y="3179762"/>
                        <a:ext cx="12026537" cy="3373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881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D3E30AAB-9873-425B-8D27-74A2FA2A8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13" y="689866"/>
            <a:ext cx="9857687" cy="593953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372727"/>
          </a:xfrm>
        </p:spPr>
        <p:txBody>
          <a:bodyPr>
            <a:normAutofit fontScale="90000"/>
          </a:bodyPr>
          <a:lstStyle/>
          <a:p>
            <a:r>
              <a:rPr lang="pt-BR" dirty="0"/>
              <a:t>Evolução esperada da tecnologia para o uso no algoritmo de </a:t>
            </a:r>
            <a:r>
              <a:rPr lang="pt-BR" dirty="0" err="1"/>
              <a:t>Grover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6400800" y="1314910"/>
            <a:ext cx="557676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Pelo gráfico, espera-se que em 2032 sejamos capazes de realizar procuras em bases de dados de </a:t>
            </a:r>
            <a:r>
              <a:rPr lang="pt-BR" sz="1400" dirty="0" err="1"/>
              <a:t>Terabytes</a:t>
            </a:r>
            <a:r>
              <a:rPr lang="pt-BR" sz="1400" dirty="0"/>
              <a:t> (quanto espera-se que existam máquinas com ~35 </a:t>
            </a:r>
            <a:r>
              <a:rPr lang="pt-BR" sz="1400" dirty="0" err="1"/>
              <a:t>qubits</a:t>
            </a:r>
            <a:r>
              <a:rPr lang="pt-BR" sz="1400" dirty="0"/>
              <a:t> lógicos ou mais, disponíveis).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608169" y="3657324"/>
            <a:ext cx="394341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Problemas cujo tamanho (quantidade necessária de </a:t>
            </a:r>
            <a:r>
              <a:rPr lang="pt-BR" sz="1400" dirty="0" err="1"/>
              <a:t>qubits</a:t>
            </a:r>
            <a:r>
              <a:rPr lang="pt-BR" sz="1400" dirty="0"/>
              <a:t> lógicos) inviabiliza a resolução por Computador Quântico.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858181" y="4422754"/>
            <a:ext cx="365510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Problemas cujo tamanho (quantidade necessária de </a:t>
            </a:r>
            <a:r>
              <a:rPr lang="pt-BR" sz="1400" dirty="0" err="1"/>
              <a:t>qubits</a:t>
            </a:r>
            <a:r>
              <a:rPr lang="pt-BR" sz="1400" dirty="0"/>
              <a:t> lógicos) é passível de resolução por um Computador Quântico</a:t>
            </a:r>
          </a:p>
        </p:txBody>
      </p:sp>
      <p:cxnSp>
        <p:nvCxnSpPr>
          <p:cNvPr id="14" name="Conector de Seta Reta 13"/>
          <p:cNvCxnSpPr>
            <a:cxnSpLocks/>
            <a:stCxn id="7" idx="2"/>
          </p:cNvCxnSpPr>
          <p:nvPr/>
        </p:nvCxnSpPr>
        <p:spPr>
          <a:xfrm flipH="1">
            <a:off x="8305800" y="2053574"/>
            <a:ext cx="883383" cy="10706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392953" y="2440214"/>
            <a:ext cx="14253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Estado da Arte (2025)!</a:t>
            </a:r>
          </a:p>
        </p:txBody>
      </p:sp>
      <p:cxnSp>
        <p:nvCxnSpPr>
          <p:cNvPr id="17" name="Conector de Seta Reta 16"/>
          <p:cNvCxnSpPr>
            <a:cxnSpLocks/>
            <a:stCxn id="16" idx="2"/>
          </p:cNvCxnSpPr>
          <p:nvPr/>
        </p:nvCxnSpPr>
        <p:spPr>
          <a:xfrm>
            <a:off x="1105619" y="2963434"/>
            <a:ext cx="1663425" cy="21979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29EAF69-3FBD-4AEA-82E6-32F88B6D1698}"/>
              </a:ext>
            </a:extLst>
          </p:cNvPr>
          <p:cNvSpPr txBox="1"/>
          <p:nvPr/>
        </p:nvSpPr>
        <p:spPr>
          <a:xfrm>
            <a:off x="2533966" y="2393279"/>
            <a:ext cx="458158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Problemas cujo tamanho torna os Computadores Quânticos economicamente viáveis de serem utilizados</a:t>
            </a:r>
            <a:endParaRPr lang="pt-BR" sz="1400" i="1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71B41D2-4ADD-42AA-B6F3-10D0D592B62C}"/>
              </a:ext>
            </a:extLst>
          </p:cNvPr>
          <p:cNvSpPr txBox="1"/>
          <p:nvPr/>
        </p:nvSpPr>
        <p:spPr>
          <a:xfrm>
            <a:off x="9157425" y="2588887"/>
            <a:ext cx="2432058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Região de vantagem “Quântica”. Nela os Computadores Quânticos são capazes de resolver o problema de forma economicamente viável</a:t>
            </a:r>
          </a:p>
        </p:txBody>
      </p:sp>
    </p:spTree>
    <p:extLst>
      <p:ext uri="{BB962C8B-B14F-4D97-AF65-F5344CB8AC3E}">
        <p14:creationId xmlns:p14="http://schemas.microsoft.com/office/powerpoint/2010/main" val="232626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  <p:bldP spid="16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43F4C-D37F-4CF5-ACAB-3119333F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necessária para implementar o algoritmo de </a:t>
            </a:r>
            <a:r>
              <a:rPr lang="pt-BR" dirty="0" err="1"/>
              <a:t>Shor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E59B98-7CEB-4EF6-8C04-804C966DD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for atingida uma melhoria de performance de uma lei de Moore Quântica, com um fator exponencial de 0,35, teremos somente por volta de 2050 a quebra do RSA!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9EEB7D-A5A0-4000-AF28-3B45AA6F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68" y="1934501"/>
            <a:ext cx="8012063" cy="482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7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6400" y="76200"/>
            <a:ext cx="11277600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Comparativo de Desempenho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06400" y="609600"/>
                <a:ext cx="11277600" cy="2874232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dirty="0"/>
                  <a:t>Suponha um hw clássico capaz de resolver um problema com no máximo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variáveis... </a:t>
                </a:r>
              </a:p>
              <a:p>
                <a:r>
                  <a:rPr lang="pt-BR" dirty="0"/>
                  <a:t>...Utilizando um algoritmo cujo número de operações necessárias para finalizar a tarefa seja dado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pt-B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dirty="0"/>
                  <a:t> ...</a:t>
                </a:r>
              </a:p>
              <a:p>
                <a:r>
                  <a:rPr lang="pt-BR" dirty="0"/>
                  <a:t>...E um hw quântico, </a:t>
                </a:r>
                <a:r>
                  <a:rPr lang="pt-BR" b="1" dirty="0"/>
                  <a:t>1M de vezes mais lento</a:t>
                </a:r>
                <a:r>
                  <a:rPr lang="pt-BR" dirty="0"/>
                  <a:t>, resolvendo o mesmo problema com um algoritmo cuja complexidade seja dada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pt-BR" dirty="0"/>
              </a:p>
              <a:p>
                <a:r>
                  <a:rPr lang="pt-BR" dirty="0"/>
                  <a:t>O hw quântico resolverá o mesmo problema no mesmo intervalo de tempo se o número de variáveis do problema for maior ou igual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36</m:t>
                    </m:r>
                  </m:oMath>
                </a14:m>
                <a:r>
                  <a:rPr lang="pt-BR" dirty="0"/>
                  <a:t> variáveis. Ou seja: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sup>
                        </m:sSup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609600"/>
                <a:ext cx="11277600" cy="2874232"/>
              </a:xfrm>
              <a:blipFill>
                <a:blip r:embed="rId2"/>
                <a:stretch>
                  <a:fillRect l="-919" t="-3185" r="-703" b="-14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228607"/>
              </p:ext>
            </p:extLst>
          </p:nvPr>
        </p:nvGraphicFramePr>
        <p:xfrm>
          <a:off x="1219200" y="3678238"/>
          <a:ext cx="9744075" cy="287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52920" imgH="1343065" progId="Excel.Sheet.12">
                  <p:embed/>
                </p:oleObj>
              </mc:Choice>
              <mc:Fallback>
                <p:oleObj name="Worksheet" r:id="rId3" imgW="4552920" imgH="134306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3678238"/>
                        <a:ext cx="9744075" cy="2874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896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Vantagem (ou Supremacia) Quântica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slides anteriores mostram que a Supremacia Quântica é uma combinação de hardware (novas portas baseadas em </a:t>
            </a:r>
            <a:r>
              <a:rPr lang="pt-BR" dirty="0" err="1"/>
              <a:t>qubits</a:t>
            </a:r>
            <a:r>
              <a:rPr lang="pt-BR" dirty="0"/>
              <a:t>) com softwares (algoritmos específicos de resolução).</a:t>
            </a:r>
          </a:p>
          <a:p>
            <a:endParaRPr lang="pt-BR" dirty="0"/>
          </a:p>
          <a:p>
            <a:r>
              <a:rPr lang="pt-BR" dirty="0"/>
              <a:t>Isto significa que um computador quântico é um “martelo” (hardware) para o qual precisamos um “cliente” (um problema) que possa ser resolvido através de um “prego” (isto é um algoritmo) apropriado.</a:t>
            </a:r>
          </a:p>
          <a:p>
            <a:endParaRPr lang="pt-BR" dirty="0"/>
          </a:p>
          <a:p>
            <a:r>
              <a:rPr lang="pt-BR" dirty="0"/>
              <a:t>Portanto, tornar a computação quântica uma realidade comercial irá requerer um enorme esforço na parte de software, mais especificamente na pesquisa de novos algoritmos (baseados em </a:t>
            </a:r>
            <a:r>
              <a:rPr lang="pt-BR" dirty="0" err="1"/>
              <a:t>qubit</a:t>
            </a:r>
            <a:r>
              <a:rPr lang="pt-BR" dirty="0"/>
              <a:t>) para a resolução de problemas específicos (conhecidos ou a descobrir).</a:t>
            </a:r>
          </a:p>
        </p:txBody>
      </p:sp>
    </p:spTree>
    <p:extLst>
      <p:ext uri="{BB962C8B-B14F-4D97-AF65-F5344CB8AC3E}">
        <p14:creationId xmlns:p14="http://schemas.microsoft.com/office/powerpoint/2010/main" val="109858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914400" y="4343401"/>
            <a:ext cx="10363200" cy="533399"/>
          </a:xfrm>
        </p:spPr>
        <p:txBody>
          <a:bodyPr>
            <a:normAutofit fontScale="90000"/>
          </a:bodyPr>
          <a:lstStyle/>
          <a:p>
            <a:r>
              <a:rPr lang="pt-BR" dirty="0"/>
              <a:t>Computação Quântica: Market </a:t>
            </a:r>
            <a:r>
              <a:rPr lang="pt-BR" dirty="0" err="1"/>
              <a:t>Map</a:t>
            </a:r>
            <a:r>
              <a:rPr lang="pt-BR" dirty="0"/>
              <a:t> &amp; </a:t>
            </a:r>
            <a:r>
              <a:rPr lang="pt-BR" dirty="0" err="1"/>
              <a:t>Research</a:t>
            </a:r>
            <a:r>
              <a:rPr lang="pt-BR" dirty="0"/>
              <a:t> </a:t>
            </a:r>
            <a:r>
              <a:rPr lang="pt-BR" dirty="0" err="1"/>
              <a:t>Projects</a:t>
            </a:r>
            <a:endParaRPr lang="pt-BR" dirty="0"/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2819400" y="5105400"/>
            <a:ext cx="6362700" cy="752311"/>
          </a:xfrm>
        </p:spPr>
        <p:txBody>
          <a:bodyPr>
            <a:normAutofit/>
          </a:bodyPr>
          <a:lstStyle/>
          <a:p>
            <a:r>
              <a:rPr lang="pt-BR" dirty="0" err="1"/>
              <a:t>Prof.Gustavo</a:t>
            </a:r>
            <a:r>
              <a:rPr lang="pt-BR" dirty="0"/>
              <a:t> </a:t>
            </a:r>
            <a:r>
              <a:rPr lang="pt-BR" dirty="0" err="1"/>
              <a:t>Mirapalheta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566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3D12F-4F2C-912B-B4DB-0CEEB130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Áreas de Trabalho na era NISQ (Noise </a:t>
            </a:r>
            <a:r>
              <a:rPr lang="pt-BR" dirty="0" err="1"/>
              <a:t>Intermediate</a:t>
            </a:r>
            <a:r>
              <a:rPr lang="pt-BR" dirty="0"/>
              <a:t> </a:t>
            </a:r>
            <a:r>
              <a:rPr lang="pt-BR" dirty="0" err="1"/>
              <a:t>Scale</a:t>
            </a:r>
            <a:r>
              <a:rPr lang="pt-BR" dirty="0"/>
              <a:t> Quantum Computer)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266800-0002-ED6B-3426-85B6F779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/>
              <a:t>Até 2031</a:t>
            </a:r>
            <a:r>
              <a:rPr lang="pt-BR" dirty="0"/>
              <a:t>: </a:t>
            </a:r>
          </a:p>
          <a:p>
            <a:pPr lvl="1"/>
            <a:r>
              <a:rPr lang="pt-BR" dirty="0"/>
              <a:t>Desenvolvimento de hardware quântico com tolerância à falha, correção de erro e escalabilidade </a:t>
            </a:r>
          </a:p>
          <a:p>
            <a:pPr lvl="1"/>
            <a:r>
              <a:rPr lang="pt-BR" dirty="0"/>
              <a:t>Pesquisa de novos algoritmos nas áreas de: a) química quântica, b) novos materiais, c) simulação de sistemas quânticos, d) machine learning, e) otimização. </a:t>
            </a:r>
          </a:p>
          <a:p>
            <a:endParaRPr lang="pt-BR" b="1" dirty="0"/>
          </a:p>
          <a:p>
            <a:r>
              <a:rPr lang="pt-BR" b="1" dirty="0"/>
              <a:t>2031 - 2035</a:t>
            </a:r>
            <a:r>
              <a:rPr lang="pt-BR" dirty="0"/>
              <a:t>: aplicações em R&amp;D nas áreas de:</a:t>
            </a:r>
          </a:p>
          <a:p>
            <a:pPr lvl="1"/>
            <a:r>
              <a:rPr lang="pt-BR" dirty="0"/>
              <a:t>Fármacos, novos materiais, genoma humano</a:t>
            </a:r>
          </a:p>
          <a:p>
            <a:endParaRPr lang="pt-BR" b="1" dirty="0"/>
          </a:p>
          <a:p>
            <a:r>
              <a:rPr lang="pt-BR" b="1" dirty="0"/>
              <a:t>2035 - 2040</a:t>
            </a:r>
            <a:r>
              <a:rPr lang="pt-BR" dirty="0"/>
              <a:t>: aplicações comerciais derivadas das áreas acima</a:t>
            </a:r>
          </a:p>
          <a:p>
            <a:endParaRPr lang="pt-BR" dirty="0"/>
          </a:p>
          <a:p>
            <a:r>
              <a:rPr lang="pt-BR" b="1" dirty="0"/>
              <a:t>Após 2050</a:t>
            </a:r>
            <a:r>
              <a:rPr lang="pt-BR" dirty="0"/>
              <a:t>: a depender do surgimento da “nova Lei de Moore”, a escalabilidade dos sistemas quânticos chegaria ao nível dos 15.000 </a:t>
            </a:r>
            <a:r>
              <a:rPr lang="pt-BR" dirty="0" err="1"/>
              <a:t>qubits</a:t>
            </a:r>
            <a:r>
              <a:rPr lang="pt-BR" dirty="0"/>
              <a:t> lógicos, possibilitando a execução do algoritmo de </a:t>
            </a:r>
            <a:r>
              <a:rPr lang="pt-BR" dirty="0" err="1"/>
              <a:t>Shor</a:t>
            </a:r>
            <a:r>
              <a:rPr lang="pt-BR" dirty="0"/>
              <a:t> em chaves de 2048 dígitos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49753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Tecnologia de </a:t>
            </a:r>
            <a:r>
              <a:rPr lang="pt-BR" dirty="0" err="1"/>
              <a:t>Qubit</a:t>
            </a:r>
            <a:r>
              <a:rPr lang="pt-BR" dirty="0"/>
              <a:t> por País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902" y="838200"/>
            <a:ext cx="5586595" cy="52578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52400" y="6245423"/>
            <a:ext cx="12039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https://sutorgroupintelligenceandadvisory.com/wp-content/uploads/2025/04/2025-04-03-Sutor-Group-QPU-Market-Landscape-Abridged.pdf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8B759B-BFF4-ACCD-9C6E-B24DEFCD7C28}"/>
              </a:ext>
            </a:extLst>
          </p:cNvPr>
          <p:cNvSpPr txBox="1"/>
          <p:nvPr/>
        </p:nvSpPr>
        <p:spPr>
          <a:xfrm>
            <a:off x="7162800" y="972383"/>
            <a:ext cx="2971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/>
              <a:t>Superconducting</a:t>
            </a:r>
            <a:r>
              <a:rPr lang="pt-BR" b="1" dirty="0"/>
              <a:t> </a:t>
            </a:r>
            <a:r>
              <a:rPr lang="pt-BR" b="1" dirty="0" err="1"/>
              <a:t>Qubits</a:t>
            </a:r>
            <a:r>
              <a:rPr lang="pt-BR" dirty="0"/>
              <a:t>: Google, IBM, </a:t>
            </a:r>
            <a:r>
              <a:rPr lang="pt-BR" dirty="0" err="1"/>
              <a:t>Rigetti</a:t>
            </a:r>
            <a:endParaRPr lang="pt-BR" dirty="0"/>
          </a:p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E1DD42-7272-0A26-AA34-5484EC74948C}"/>
              </a:ext>
            </a:extLst>
          </p:cNvPr>
          <p:cNvSpPr txBox="1"/>
          <p:nvPr/>
        </p:nvSpPr>
        <p:spPr>
          <a:xfrm>
            <a:off x="8991600" y="3349525"/>
            <a:ext cx="3005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err="1"/>
              <a:t>Trapped</a:t>
            </a:r>
            <a:r>
              <a:rPr lang="pt-BR" b="1" dirty="0"/>
              <a:t> </a:t>
            </a:r>
            <a:r>
              <a:rPr lang="pt-BR" b="1" dirty="0" err="1"/>
              <a:t>Ions</a:t>
            </a:r>
            <a:r>
              <a:rPr lang="pt-BR" dirty="0"/>
              <a:t>: </a:t>
            </a:r>
          </a:p>
          <a:p>
            <a:pPr algn="ctr"/>
            <a:r>
              <a:rPr lang="pt-BR" dirty="0" err="1"/>
              <a:t>IonQ</a:t>
            </a:r>
            <a:r>
              <a:rPr lang="pt-BR" dirty="0"/>
              <a:t>&amp;(</a:t>
            </a:r>
            <a:r>
              <a:rPr lang="pt-BR" dirty="0" err="1"/>
              <a:t>Ansys</a:t>
            </a:r>
            <a:r>
              <a:rPr lang="pt-BR" dirty="0"/>
              <a:t>), </a:t>
            </a:r>
            <a:r>
              <a:rPr lang="pt-BR" dirty="0" err="1"/>
              <a:t>Quantinuum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4685A4-B728-DF61-2AB4-FAD27560D969}"/>
              </a:ext>
            </a:extLst>
          </p:cNvPr>
          <p:cNvSpPr txBox="1"/>
          <p:nvPr/>
        </p:nvSpPr>
        <p:spPr>
          <a:xfrm>
            <a:off x="3962400" y="2590800"/>
            <a:ext cx="23887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err="1"/>
              <a:t>Photonic</a:t>
            </a:r>
            <a:r>
              <a:rPr lang="pt-BR" b="1" dirty="0"/>
              <a:t> </a:t>
            </a:r>
            <a:r>
              <a:rPr lang="pt-BR" b="1" dirty="0" err="1"/>
              <a:t>Qubits</a:t>
            </a:r>
            <a:r>
              <a:rPr lang="pt-BR" dirty="0"/>
              <a:t>: </a:t>
            </a:r>
          </a:p>
          <a:p>
            <a:pPr algn="ctr"/>
            <a:r>
              <a:rPr lang="pt-BR" dirty="0"/>
              <a:t>Xanadu, </a:t>
            </a:r>
            <a:r>
              <a:rPr lang="pt-BR" dirty="0" err="1"/>
              <a:t>PsiQuantum</a:t>
            </a:r>
            <a:endParaRPr lang="pt-BR" dirty="0"/>
          </a:p>
          <a:p>
            <a:pPr algn="ctr"/>
            <a:r>
              <a:rPr lang="pt-BR" dirty="0"/>
              <a:t>(</a:t>
            </a:r>
            <a:r>
              <a:rPr lang="pt-BR" dirty="0" err="1"/>
              <a:t>comum.segura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390430-3571-663B-1C25-A1D81F803C56}"/>
              </a:ext>
            </a:extLst>
          </p:cNvPr>
          <p:cNvSpPr txBox="1"/>
          <p:nvPr/>
        </p:nvSpPr>
        <p:spPr>
          <a:xfrm>
            <a:off x="1370233" y="3429000"/>
            <a:ext cx="188166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Neutral </a:t>
            </a:r>
            <a:r>
              <a:rPr lang="pt-BR" b="1" dirty="0" err="1"/>
              <a:t>Atoms</a:t>
            </a:r>
            <a:r>
              <a:rPr lang="pt-BR" dirty="0"/>
              <a:t>: </a:t>
            </a:r>
          </a:p>
          <a:p>
            <a:pPr algn="ctr"/>
            <a:r>
              <a:rPr lang="pt-BR" dirty="0" err="1"/>
              <a:t>QuEra</a:t>
            </a:r>
            <a:r>
              <a:rPr lang="pt-BR" dirty="0"/>
              <a:t>, </a:t>
            </a:r>
            <a:r>
              <a:rPr lang="pt-BR" dirty="0" err="1"/>
              <a:t>Pasqal</a:t>
            </a:r>
            <a:endParaRPr lang="pt-BR" dirty="0"/>
          </a:p>
          <a:p>
            <a:pPr algn="ctr"/>
            <a:r>
              <a:rPr lang="pt-BR" dirty="0" err="1"/>
              <a:t>sim.quântica</a:t>
            </a:r>
            <a:r>
              <a:rPr lang="pt-BR" dirty="0"/>
              <a:t> </a:t>
            </a:r>
          </a:p>
          <a:p>
            <a:pPr algn="ctr"/>
            <a:r>
              <a:rPr lang="pt-BR" dirty="0" err="1"/>
              <a:t>T</a:t>
            </a:r>
            <a:r>
              <a:rPr lang="pt-BR" baseline="-25000" dirty="0" err="1"/>
              <a:t>coerência</a:t>
            </a:r>
            <a:r>
              <a:rPr lang="pt-BR" dirty="0"/>
              <a:t> &gt; 1s</a:t>
            </a:r>
          </a:p>
          <a:p>
            <a:pPr algn="ctr"/>
            <a:r>
              <a:rPr lang="pt-BR" dirty="0"/>
              <a:t>&gt; 1000 </a:t>
            </a:r>
            <a:r>
              <a:rPr lang="pt-BR" dirty="0" err="1"/>
              <a:t>qubits</a:t>
            </a:r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2E8194A-9232-9877-364A-B620F7D150AA}"/>
              </a:ext>
            </a:extLst>
          </p:cNvPr>
          <p:cNvSpPr txBox="1"/>
          <p:nvPr/>
        </p:nvSpPr>
        <p:spPr>
          <a:xfrm>
            <a:off x="8838497" y="4791045"/>
            <a:ext cx="2386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Topological</a:t>
            </a:r>
            <a:r>
              <a:rPr lang="pt-BR" b="1" dirty="0"/>
              <a:t> </a:t>
            </a:r>
            <a:r>
              <a:rPr lang="pt-BR" b="1" dirty="0" err="1"/>
              <a:t>Qubits</a:t>
            </a:r>
            <a:r>
              <a:rPr lang="pt-BR" dirty="0"/>
              <a:t>: </a:t>
            </a:r>
          </a:p>
          <a:p>
            <a:pPr algn="ctr"/>
            <a:r>
              <a:rPr lang="pt-BR" dirty="0"/>
              <a:t>Microsoft </a:t>
            </a:r>
          </a:p>
          <a:p>
            <a:pPr algn="ctr"/>
            <a:r>
              <a:rPr lang="pt-BR" dirty="0"/>
              <a:t>(Majorana-1 chip...)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8E67DE-9F41-D514-E943-2B407303FD26}"/>
              </a:ext>
            </a:extLst>
          </p:cNvPr>
          <p:cNvSpPr txBox="1"/>
          <p:nvPr/>
        </p:nvSpPr>
        <p:spPr>
          <a:xfrm>
            <a:off x="509892" y="872891"/>
            <a:ext cx="20056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err="1"/>
              <a:t>Annealing</a:t>
            </a:r>
            <a:r>
              <a:rPr lang="pt-BR" dirty="0"/>
              <a:t>:</a:t>
            </a:r>
          </a:p>
          <a:p>
            <a:pPr algn="ctr"/>
            <a:r>
              <a:rPr lang="pt-BR" dirty="0"/>
              <a:t>D-</a:t>
            </a:r>
            <a:r>
              <a:rPr lang="pt-BR" dirty="0" err="1"/>
              <a:t>Wave</a:t>
            </a:r>
            <a:endParaRPr lang="pt-BR" dirty="0"/>
          </a:p>
          <a:p>
            <a:pPr algn="ctr"/>
            <a:r>
              <a:rPr lang="pt-BR" dirty="0"/>
              <a:t>não é tec.de </a:t>
            </a:r>
            <a:r>
              <a:rPr lang="pt-BR" dirty="0" err="1"/>
              <a:t>gate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55D9397-58AB-FF03-4893-57BA3A915652}"/>
              </a:ext>
            </a:extLst>
          </p:cNvPr>
          <p:cNvSpPr txBox="1"/>
          <p:nvPr/>
        </p:nvSpPr>
        <p:spPr>
          <a:xfrm>
            <a:off x="182880" y="1830913"/>
            <a:ext cx="26597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Silicon Quantum </a:t>
            </a:r>
            <a:r>
              <a:rPr lang="pt-BR" b="1" dirty="0" err="1"/>
              <a:t>Dots</a:t>
            </a:r>
            <a:r>
              <a:rPr lang="pt-BR" dirty="0"/>
              <a:t>:</a:t>
            </a:r>
          </a:p>
          <a:p>
            <a:pPr algn="ctr"/>
            <a:r>
              <a:rPr lang="pt-BR" dirty="0"/>
              <a:t>Intel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283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Empresas e Recursos Interessantes:</a:t>
            </a:r>
          </a:p>
        </p:txBody>
      </p:sp>
      <p:pic>
        <p:nvPicPr>
          <p:cNvPr id="13314" name="Picture 2" descr="https://miro.medium.com/v2/resize:fit:963/1*AtVRCEBQMyeaZkyk64actg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2470150" cy="76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pypi-camo.freetls.fastly.net/798281166a1668cd71b272f78bcdc8d38ec2cff0/68747470733a2f2f7261772e67697468756275736572636f6e74656e742e636f6d2f50656e6e794c616e6541492f70656e6e796c616e652f6d61737465722f646f632f5f7374617469632f726561646d652f706c2d6c6f676f2d6c696768746d6f64652e706e672367682d6c696768742d6d6f64652d6f6e6c7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59747"/>
            <a:ext cx="4114800" cy="117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Terra Quantu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143000"/>
            <a:ext cx="3355975" cy="1677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Pasqal Opens North American Office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125788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6" name="Picture 14" descr="HQS Quantum Simulation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243546"/>
            <a:ext cx="3023426" cy="93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044318F-8BA2-C1B2-D49C-2546A0191DF4}"/>
              </a:ext>
            </a:extLst>
          </p:cNvPr>
          <p:cNvSpPr txBox="1"/>
          <p:nvPr/>
        </p:nvSpPr>
        <p:spPr>
          <a:xfrm>
            <a:off x="1295400" y="3276042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hlinkClick r:id="rId7"/>
              </a:rPr>
              <a:t>https://pennylane.ai/blog</a:t>
            </a:r>
            <a:endParaRPr lang="pt-BR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68AA72-DBE7-7C01-E6AC-FFB090FDCB50}"/>
              </a:ext>
            </a:extLst>
          </p:cNvPr>
          <p:cNvSpPr txBox="1"/>
          <p:nvPr/>
        </p:nvSpPr>
        <p:spPr>
          <a:xfrm>
            <a:off x="365363" y="5530334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hlinkClick r:id="rId8"/>
              </a:rPr>
              <a:t>http://medium.com/mit-6-s089-intro-to-quantum-computing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6708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76D569ED-F043-5959-606F-A04C9C97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8599"/>
            <a:ext cx="7315200" cy="590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CB6FB4F3-4D63-E6F8-3DEA-4A36C0D6EEA4}"/>
              </a:ext>
            </a:extLst>
          </p:cNvPr>
          <p:cNvSpPr/>
          <p:nvPr/>
        </p:nvSpPr>
        <p:spPr>
          <a:xfrm>
            <a:off x="6096000" y="1828800"/>
            <a:ext cx="1524000" cy="6096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B28F928-DA32-C085-F513-8F5A109FF9D3}"/>
              </a:ext>
            </a:extLst>
          </p:cNvPr>
          <p:cNvSpPr/>
          <p:nvPr/>
        </p:nvSpPr>
        <p:spPr>
          <a:xfrm>
            <a:off x="3962400" y="4267200"/>
            <a:ext cx="1447800" cy="5334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872BE27-5765-834E-3051-1EFAACD6560C}"/>
              </a:ext>
            </a:extLst>
          </p:cNvPr>
          <p:cNvSpPr/>
          <p:nvPr/>
        </p:nvSpPr>
        <p:spPr>
          <a:xfrm>
            <a:off x="3505200" y="4495800"/>
            <a:ext cx="1447800" cy="5334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20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EF9646FB-3F4C-F0E6-B11D-725C317BD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7" y="183061"/>
            <a:ext cx="9852025" cy="649187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58FA5440-398E-2B53-B41D-831C9E35E432}"/>
              </a:ext>
            </a:extLst>
          </p:cNvPr>
          <p:cNvSpPr/>
          <p:nvPr/>
        </p:nvSpPr>
        <p:spPr>
          <a:xfrm>
            <a:off x="4800600" y="1524000"/>
            <a:ext cx="1524000" cy="60960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64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Curiosidades Brasileiras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95500"/>
            <a:ext cx="5261769" cy="26670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447800"/>
            <a:ext cx="648954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7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ctrTitle"/>
          </p:nvPr>
        </p:nvSpPr>
        <p:spPr>
          <a:xfrm>
            <a:off x="914400" y="4343401"/>
            <a:ext cx="10363200" cy="533399"/>
          </a:xfrm>
        </p:spPr>
        <p:txBody>
          <a:bodyPr>
            <a:normAutofit fontScale="90000"/>
          </a:bodyPr>
          <a:lstStyle/>
          <a:p>
            <a:r>
              <a:rPr lang="pt-BR" dirty="0"/>
              <a:t>Computação Quântica: Aula Técnica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2819400" y="5105400"/>
            <a:ext cx="6362700" cy="752311"/>
          </a:xfrm>
        </p:spPr>
        <p:txBody>
          <a:bodyPr>
            <a:normAutofit/>
          </a:bodyPr>
          <a:lstStyle/>
          <a:p>
            <a:r>
              <a:rPr lang="pt-BR" dirty="0" err="1"/>
              <a:t>Prof.Gustavo</a:t>
            </a:r>
            <a:r>
              <a:rPr lang="pt-BR" dirty="0"/>
              <a:t> </a:t>
            </a:r>
            <a:r>
              <a:rPr lang="pt-BR" dirty="0" err="1"/>
              <a:t>Mirapalheta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778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 – Teoria e Exemplos Passo a Passo (com Álgebra)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a parte técnica vide planilhas e os </a:t>
            </a:r>
            <a:r>
              <a:rPr lang="pt-BR" dirty="0" err="1"/>
              <a:t>Jupyter</a:t>
            </a:r>
            <a:r>
              <a:rPr lang="pt-BR" dirty="0"/>
              <a:t> Notebooks em anexo.</a:t>
            </a:r>
          </a:p>
          <a:p>
            <a:endParaRPr lang="pt-BR" dirty="0"/>
          </a:p>
          <a:p>
            <a:r>
              <a:rPr lang="pt-BR" dirty="0"/>
              <a:t>Exemplos de Algoritmos</a:t>
            </a:r>
          </a:p>
          <a:p>
            <a:pPr lvl="1"/>
            <a:r>
              <a:rPr lang="pt-BR" dirty="0" err="1"/>
              <a:t>Teletransporte</a:t>
            </a:r>
            <a:r>
              <a:rPr lang="pt-BR" dirty="0"/>
              <a:t> – Passo a passo (com álgebra)</a:t>
            </a:r>
          </a:p>
          <a:p>
            <a:pPr lvl="1"/>
            <a:r>
              <a:rPr lang="pt-BR" dirty="0" err="1"/>
              <a:t>Deustch</a:t>
            </a:r>
            <a:r>
              <a:rPr lang="pt-BR" dirty="0"/>
              <a:t> – Passo a passo (com álgebra)</a:t>
            </a:r>
          </a:p>
          <a:p>
            <a:pPr lvl="1"/>
            <a:r>
              <a:rPr lang="pt-BR" dirty="0" err="1"/>
              <a:t>Josza</a:t>
            </a:r>
            <a:r>
              <a:rPr lang="pt-BR" dirty="0"/>
              <a:t>, </a:t>
            </a:r>
            <a:r>
              <a:rPr lang="pt-BR" dirty="0" err="1"/>
              <a:t>Grover</a:t>
            </a:r>
            <a:r>
              <a:rPr lang="pt-BR" dirty="0"/>
              <a:t> e </a:t>
            </a:r>
            <a:r>
              <a:rPr lang="pt-BR" dirty="0" err="1"/>
              <a:t>Shor</a:t>
            </a:r>
            <a:r>
              <a:rPr lang="pt-BR" dirty="0"/>
              <a:t> – Conceitual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983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plate_cursos_gustavo_2014">
  <a:themeElements>
    <a:clrScheme name="NPR2011">
      <a:dk1>
        <a:srgbClr val="000000"/>
      </a:dk1>
      <a:lt1>
        <a:srgbClr val="FFFFFF"/>
      </a:lt1>
      <a:dk2>
        <a:srgbClr val="007DC3"/>
      </a:dk2>
      <a:lt2>
        <a:srgbClr val="5F5F5F"/>
      </a:lt2>
      <a:accent1>
        <a:srgbClr val="2C95DD"/>
      </a:accent1>
      <a:accent2>
        <a:srgbClr val="49A942"/>
      </a:accent2>
      <a:accent3>
        <a:srgbClr val="74C167"/>
      </a:accent3>
      <a:accent4>
        <a:srgbClr val="FFC425"/>
      </a:accent4>
      <a:accent5>
        <a:srgbClr val="B5761B"/>
      </a:accent5>
      <a:accent6>
        <a:srgbClr val="A80000"/>
      </a:accent6>
      <a:hlink>
        <a:srgbClr val="0070C0"/>
      </a:hlink>
      <a:folHlink>
        <a:srgbClr val="49A942"/>
      </a:folHlink>
    </a:clrScheme>
    <a:fontScheme name="NPR2011Template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81909</TotalTime>
  <Words>3199</Words>
  <Application>Microsoft Office PowerPoint</Application>
  <PresentationFormat>Widescreen</PresentationFormat>
  <Paragraphs>341</Paragraphs>
  <Slides>50</Slides>
  <Notes>0</Notes>
  <HiddenSlides>1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50</vt:i4>
      </vt:variant>
    </vt:vector>
  </HeadingPairs>
  <TitlesOfParts>
    <vt:vector size="63" baseType="lpstr">
      <vt:lpstr>Arial</vt:lpstr>
      <vt:lpstr>Calibri</vt:lpstr>
      <vt:lpstr>Cambria Math</vt:lpstr>
      <vt:lpstr>Corbel</vt:lpstr>
      <vt:lpstr>Courier New</vt:lpstr>
      <vt:lpstr>Myriad Pro</vt:lpstr>
      <vt:lpstr>Symbol</vt:lpstr>
      <vt:lpstr>Webdings</vt:lpstr>
      <vt:lpstr>Wingdings</vt:lpstr>
      <vt:lpstr>Template_cursos_gustavo_2014</vt:lpstr>
      <vt:lpstr>Planilha Habilitada para Macro</vt:lpstr>
      <vt:lpstr>Worksheet</vt:lpstr>
      <vt:lpstr>Planilha do Microsoft Excel</vt:lpstr>
      <vt:lpstr>Tecnologias Emergentes</vt:lpstr>
      <vt:lpstr>Apresentação do PowerPoint</vt:lpstr>
      <vt:lpstr>Apresentação do PowerPoint</vt:lpstr>
      <vt:lpstr>Inteligência Artificial, Programação Clássica, Machine Learning</vt:lpstr>
      <vt:lpstr>A Escolha do Modelo: Não Supervisionado ou Supervisionado?            Predição de Valor ou de Categoria?</vt:lpstr>
      <vt:lpstr>Ciclo de Desenvolvimento em Machine Learning</vt:lpstr>
      <vt:lpstr>Apresentação do PowerPoint</vt:lpstr>
      <vt:lpstr>LLMs: Uma Idéia Simples ...</vt:lpstr>
      <vt:lpstr>LLMs: Uma Idéia Simples, Um Modelo Complexo, ...</vt:lpstr>
      <vt:lpstr>LLMs: Uma Idéia Simples, Um Modelo Complexo, Uma Execução ... Quase Impossível!</vt:lpstr>
      <vt:lpstr>Apresentação do PowerPoint</vt:lpstr>
      <vt:lpstr>Bibliografia</vt:lpstr>
      <vt:lpstr>Tecnologias Emergentes</vt:lpstr>
      <vt:lpstr>Mecânica Quântica: A Descrição do Mundo Muuuuuuuito Pequeno</vt:lpstr>
      <vt:lpstr>1ª Diferença: Estado Definido vs Estado Intermediário: Sobreposição</vt:lpstr>
      <vt:lpstr>2ª Diferença: Os Estados Intermediários se Multiplicam: Entrelaçamento </vt:lpstr>
      <vt:lpstr>3ª Diferença: Podemos Influenciar o “Caminho”: Interferência</vt:lpstr>
      <vt:lpstr>O Dilema: “Ele” Calcula com 4 “Números” mas no final nos mostra 1 “Número” Apenas</vt:lpstr>
      <vt:lpstr>Um consulta a um banco de dados</vt:lpstr>
      <vt:lpstr>Um consulta a um banco de dados</vt:lpstr>
      <vt:lpstr>Um consulta a um banco de dados</vt:lpstr>
      <vt:lpstr>Um consulta a um banco de dados</vt:lpstr>
      <vt:lpstr>Observe a evolução da amplitude e da probabilidade de ser obter o estado |100&gt;</vt:lpstr>
      <vt:lpstr>Um consulta a um banco de dados</vt:lpstr>
      <vt:lpstr>Um aumento quadrático de desempenho</vt:lpstr>
      <vt:lpstr>Obrigado! – Q&amp;As?</vt:lpstr>
      <vt:lpstr>Computação Quântica: Implicações Gerenciais</vt:lpstr>
      <vt:lpstr>Qual o fenômeno chave para a existência dos computadores quânticos?</vt:lpstr>
      <vt:lpstr>De onde surge a vantagem dos computadores quânticos?</vt:lpstr>
      <vt:lpstr>Qual a desvantagem?</vt:lpstr>
      <vt:lpstr>Qual o desafio?</vt:lpstr>
      <vt:lpstr>Vamos analisar a viabilidade de utilizar o algoritmo de Grover </vt:lpstr>
      <vt:lpstr>Viabilidade econômica do algoritmo de Grover (II) </vt:lpstr>
      <vt:lpstr>Viabilidade econômica do algoritmo de Grover (III) </vt:lpstr>
      <vt:lpstr>Viabilidade econômica do algoritmo de Grover (IV) </vt:lpstr>
      <vt:lpstr>Viabilidade do Algoritmo de Shor (Fatoração de números com n dígitos)</vt:lpstr>
      <vt:lpstr>No momento as melhores implementações conseguem 2! qubits lógicos </vt:lpstr>
      <vt:lpstr>Evolução esperada da tecnologia para o uso no algoritmo de Grover</vt:lpstr>
      <vt:lpstr>Evolução necessária para implementar o algoritmo de Shor</vt:lpstr>
      <vt:lpstr>Comparativo de Desempenho</vt:lpstr>
      <vt:lpstr>A Vantagem (ou Supremacia) Quântica</vt:lpstr>
      <vt:lpstr>Computação Quântica: Market Map &amp; Research Projects</vt:lpstr>
      <vt:lpstr>Áreas de Trabalho na era NISQ (Noise Intermediate Scale Quantum Computer)</vt:lpstr>
      <vt:lpstr>Tipo de Tecnologia de Qubit por País</vt:lpstr>
      <vt:lpstr>Empresas e Recursos Interessantes:</vt:lpstr>
      <vt:lpstr>Apresentação do PowerPoint</vt:lpstr>
      <vt:lpstr>Apresentação do PowerPoint</vt:lpstr>
      <vt:lpstr>Curiosidades Brasileiras</vt:lpstr>
      <vt:lpstr>Computação Quântica: Aula Técnica</vt:lpstr>
      <vt:lpstr>Agenda – Teoria e Exemplos Passo a Passo (com Álgebra)</vt:lpstr>
    </vt:vector>
  </TitlesOfParts>
  <Company>Bucknell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Lisa Veloz</dc:creator>
  <cp:lastModifiedBy>gustavo</cp:lastModifiedBy>
  <cp:revision>2862</cp:revision>
  <dcterms:created xsi:type="dcterms:W3CDTF">2004-02-07T16:14:30Z</dcterms:created>
  <dcterms:modified xsi:type="dcterms:W3CDTF">2025-04-13T06:24:56Z</dcterms:modified>
</cp:coreProperties>
</file>